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1"/>
  </p:sldMasterIdLst>
  <p:notesMasterIdLst>
    <p:notesMasterId r:id="rId4"/>
  </p:notesMasterIdLst>
  <p:sldIdLst>
    <p:sldId id="1029" r:id="rId2"/>
    <p:sldId id="1262" r:id="rId3"/>
  </p:sldIdLst>
  <p:sldSz cx="9144000" cy="6858000" type="letter"/>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ED8B07-03EF-70FA-5E05-AF70688D4DE8}" name="Stephanie Rodgers" initials="SR" userId="db26bc80bab7ff3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3647"/>
    <a:srgbClr val="002060"/>
    <a:srgbClr val="03B1F0"/>
    <a:srgbClr val="CD1575"/>
    <a:srgbClr val="808080"/>
    <a:srgbClr val="303F52"/>
    <a:srgbClr val="3B731F"/>
    <a:srgbClr val="A6A6A6"/>
    <a:srgbClr val="E6E6E6"/>
    <a:srgbClr val="1DB7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252" autoAdjust="0"/>
    <p:restoredTop sz="95291" autoAdjust="0"/>
  </p:normalViewPr>
  <p:slideViewPr>
    <p:cSldViewPr snapToGrid="0">
      <p:cViewPr varScale="1">
        <p:scale>
          <a:sx n="127" d="100"/>
          <a:sy n="127" d="100"/>
        </p:scale>
        <p:origin x="1544" y="184"/>
      </p:cViewPr>
      <p:guideLst/>
    </p:cSldViewPr>
  </p:slideViewPr>
  <p:notesTextViewPr>
    <p:cViewPr>
      <p:scale>
        <a:sx n="300" d="100"/>
        <a:sy n="3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Revenue</c:v>
                </c:pt>
              </c:strCache>
            </c:strRef>
          </c:tx>
          <c:spPr>
            <a:solidFill>
              <a:srgbClr val="002060"/>
            </a:solidFill>
          </c:spPr>
          <c:cat>
            <c:strRef>
              <c:f>Sheet1!$A$2:$A$6</c:f>
              <c:strCache>
                <c:ptCount val="5"/>
                <c:pt idx="0">
                  <c:v>2017</c:v>
                </c:pt>
                <c:pt idx="1">
                  <c:v>2018</c:v>
                </c:pt>
                <c:pt idx="2">
                  <c:v>2019</c:v>
                </c:pt>
                <c:pt idx="3">
                  <c:v>2020</c:v>
                </c:pt>
                <c:pt idx="4">
                  <c:v>2021</c:v>
                </c:pt>
              </c:strCache>
            </c:strRef>
          </c:cat>
          <c:val>
            <c:numRef>
              <c:f>Sheet1!$B$2:$B$6</c:f>
              <c:numCache>
                <c:formatCode>General</c:formatCode>
                <c:ptCount val="5"/>
                <c:pt idx="0">
                  <c:v>4.0</c:v>
                </c:pt>
                <c:pt idx="1">
                  <c:v>8.6</c:v>
                </c:pt>
                <c:pt idx="2">
                  <c:v>9.7</c:v>
                </c:pt>
                <c:pt idx="3">
                  <c:v>10.6</c:v>
                </c:pt>
                <c:pt idx="4">
                  <c:v>14.2</c:v>
                </c:pt>
              </c:numCache>
            </c:numRef>
          </c:val>
        </c:ser>
        <c:dLbls>
          <c:numFmt formatCode="&quot;$&quot;0.0" sourceLinked="0"/>
          <c:txPr>
            <a:bodyPr/>
            <a:lstStyle/>
            <a:p>
              <a:pPr>
                <a:defRPr sz="800"/>
              </a:pPr>
            </a:p>
          </c:txPr>
          <c:showLegendKey val="0"/>
          <c:showVal val="1"/>
          <c:showCatName val="0"/>
          <c:showSerName val="0"/>
          <c:showPercent val="0"/>
          <c:showBubbleSize val="0"/>
          <c:showLeaderLines val="1"/>
        </c:dLbls>
        <c:gapWidth val="60"/>
        <c:axId val="-2068027336"/>
        <c:axId val="-2113994440"/>
      </c:barChart>
      <c:lineChart>
        <c:grouping val="standard"/>
        <c:varyColors val="0"/>
        <c:ser>
          <c:idx val="1"/>
          <c:order val="1"/>
          <c:tx>
            <c:strRef>
              <c:f>Sheet1!$C$1</c:f>
              <c:strCache>
                <c:ptCount val="1"/>
                <c:pt idx="0">
                  <c:v>EBITDA</c:v>
                </c:pt>
              </c:strCache>
            </c:strRef>
          </c:tx>
          <c:spPr>
            <a:solidFill>
              <a:srgbClr val="2E9BD6"/>
            </a:solidFill>
          </c:spPr>
          <c:marker>
            <c:symbol val="circle"/>
            <c:size val="6"/>
            <c:spPr>
              <a:solidFill>
                <a:srgbClr val="2E9BD6"/>
              </a:solidFill>
            </c:spPr>
          </c:marker>
          <c:dLbls>
            <c:numFmt formatCode="&quot;$&quot;0.0" sourceLinked="0"/>
            <c:dLblPos val="t"/>
            <c:showLegendKey val="0"/>
            <c:showVal val="1"/>
            <c:showCatName val="0"/>
            <c:showSerName val="0"/>
            <c:showPercent val="0"/>
            <c:showBubbleSize val="0"/>
            <c:txPr>
              <a:bodyPr/>
              <a:lstStyle/>
              <a:p>
                <a:pPr>
                  <a:defRPr sz="800"/>
                </a:pPr>
                <a:endParaRPr lang="en-US"/>
              </a:p>
            </c:txPr>
          </c:dLbls>
          <c:cat>
            <c:strRef>
              <c:f>Sheet1!$A$2:$A$6</c:f>
              <c:strCache>
                <c:ptCount val="5"/>
                <c:pt idx="0">
                  <c:v>2017</c:v>
                </c:pt>
                <c:pt idx="1">
                  <c:v>2018</c:v>
                </c:pt>
                <c:pt idx="2">
                  <c:v>2019</c:v>
                </c:pt>
                <c:pt idx="3">
                  <c:v>2020</c:v>
                </c:pt>
                <c:pt idx="4">
                  <c:v>2021</c:v>
                </c:pt>
              </c:strCache>
            </c:strRef>
          </c:cat>
          <c:val>
            <c:numRef>
              <c:f>Sheet1!$C$2:$C$6</c:f>
              <c:numCache>
                <c:formatCode>General</c:formatCode>
                <c:ptCount val="5"/>
                <c:pt idx="0">
                  <c:v>0.3</c:v>
                </c:pt>
                <c:pt idx="1">
                  <c:v>1.5</c:v>
                </c:pt>
                <c:pt idx="2">
                  <c:v>2.1</c:v>
                </c:pt>
                <c:pt idx="3">
                  <c:v>2.9</c:v>
                </c:pt>
                <c:pt idx="4">
                  <c:v>5.3</c:v>
                </c:pt>
              </c:numCache>
            </c:numRef>
          </c:val>
          <c:smooth val="0"/>
        </c:ser>
        <c:marker val="1"/>
        <c:axId val="-2068027336"/>
        <c:axId val="-2113994440"/>
      </c:lineChart>
      <c:catAx>
        <c:axId val="-2068027336"/>
        <c:scaling>
          <c:orientation val="minMax"/>
        </c:scaling>
        <c:delete val="0"/>
        <c:axPos val="b"/>
        <c:majorTickMark val="out"/>
        <c:minorTickMark val="none"/>
        <c:tickLblPos val="nextTo"/>
        <c:txPr>
          <a:bodyPr/>
          <a:lstStyle/>
          <a:p>
            <a:pPr>
              <a:defRPr sz="900"/>
            </a:pPr>
          </a:p>
        </c:txPr>
        <c:crossAx val="-2113994440"/>
        <c:crosses val="autoZero"/>
        <c:auto val="1"/>
        <c:lblAlgn val="ctr"/>
        <c:lblOffset val="100"/>
        <c:noMultiLvlLbl val="0"/>
      </c:catAx>
      <c:valAx>
        <c:axId val="-2113994440"/>
        <c:scaling>
          <c:min val="0.0"/>
        </c:scaling>
        <c:delete val="0"/>
        <c:axPos val="l"/>
        <c:numFmt formatCode="&quot;$&quot;0.0" sourceLinked="0"/>
        <c:majorTickMark val="out"/>
        <c:minorTickMark val="none"/>
        <c:tickLblPos val="nextTo"/>
        <c:txPr>
          <a:bodyPr/>
          <a:lstStyle/>
          <a:p>
            <a:pPr>
              <a:defRPr sz="900"/>
            </a:pPr>
          </a:p>
        </c:txPr>
        <c:crossAx val="-2068027336"/>
        <c:crosses val="autoZero"/>
      </c:valAx>
    </c:plotArea>
    <c:legend>
      <c:legendPos val="b"/>
      <c:overlay val="0"/>
      <c:txPr>
        <a:bodyPr/>
        <a:lstStyle/>
        <a:p>
          <a:pPr>
            <a:defRPr sz="900"/>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02"/>
          <c:y val="0.02"/>
          <c:w val="0.96"/>
          <c:h val="0.96"/>
        </c:manualLayout>
      </c:layout>
      <c:pieChart>
        <c:varyColors val="1"/>
        <c:ser>
          <c:idx val="0"/>
          <c:order val="0"/>
          <c:tx>
            <c:strRef>
              <c:f>Sheet1!$B$1</c:f>
              <c:strCache>
                <c:ptCount val="1"/>
                <c:pt idx="0">
                  <c:v>Revenue by Geography</c:v>
                </c:pt>
              </c:strCache>
            </c:strRef>
          </c:tx>
          <c:dPt>
            <c:idx val="0"/>
            <c:spPr>
              <a:solidFill>
                <a:srgbClr val="002060"/>
              </a:solidFill>
            </c:spPr>
          </c:dPt>
          <c:dPt>
            <c:idx val="1"/>
            <c:spPr>
              <a:solidFill>
                <a:srgbClr val="A6A6A6"/>
              </a:solidFill>
            </c:spPr>
          </c:dPt>
          <c:dPt>
            <c:idx val="2"/>
            <c:spPr>
              <a:solidFill>
                <a:srgbClr val="2E9BD6"/>
              </a:solidFill>
            </c:spPr>
          </c:dPt>
          <c:dPt>
            <c:idx val="3"/>
            <c:spPr>
              <a:solidFill>
                <a:srgbClr val="548235"/>
              </a:solidFill>
            </c:spPr>
          </c:dPt>
          <c:cat>
            <c:strRef>
              <c:f>Sheet1!$A$2:$A$5</c:f>
              <c:strCache>
                <c:ptCount val="4"/>
                <c:pt idx="0">
                  <c:v>The Americas</c:v>
                </c:pt>
                <c:pt idx="1">
                  <c:v>Japan</c:v>
                </c:pt>
                <c:pt idx="2">
                  <c:v>Europe</c:v>
                </c:pt>
                <c:pt idx="3">
                  <c:v>Other</c:v>
                </c:pt>
              </c:strCache>
            </c:strRef>
          </c:cat>
          <c:val>
            <c:numRef>
              <c:f>Sheet1!$B$2:$B$5</c:f>
              <c:numCache>
                <c:formatCode>General</c:formatCode>
                <c:ptCount val="4"/>
                <c:pt idx="0">
                  <c:v>6646</c:v>
                </c:pt>
                <c:pt idx="1">
                  <c:v>3613</c:v>
                </c:pt>
                <c:pt idx="2">
                  <c:v>4009</c:v>
                </c:pt>
                <c:pt idx="3">
                  <c:v>1720</c:v>
                </c:pt>
              </c:numCache>
            </c:numRef>
          </c:val>
        </c:ser>
        <c:dLbls>
          <c:numFmt formatCode="0%" sourceLinked="0"/>
          <c:txPr>
            <a:bodyPr/>
            <a:lstStyle/>
            <a:p>
              <a:pPr>
                <a:defRPr sz="900" b="1">
                  <a:solidFill>
                    <a:srgbClr val="000000"/>
                  </a:solidFill>
                </a:defRPr>
              </a:pPr>
            </a:p>
          </c:txPr>
          <c:dLblPos val="outEnd"/>
          <c:showLegendKey val="0"/>
          <c:showVal val="0"/>
          <c:showCatName val="1"/>
          <c:showSerName val="0"/>
          <c:showPercent val="1"/>
          <c:showBubbleSize val="0"/>
          <c:showLeaderLines val="1"/>
        </c:dLbls>
      </c:pieChart>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43343" cy="467071"/>
          </a:xfrm>
          <a:prstGeom prst="rect">
            <a:avLst/>
          </a:prstGeom>
        </p:spPr>
        <p:txBody>
          <a:bodyPr vert="horz" lIns="93293" tIns="46647" rIns="93293" bIns="46647" rtlCol="0"/>
          <a:lstStyle>
            <a:lvl1pPr algn="l">
              <a:defRPr sz="1200"/>
            </a:lvl1pPr>
          </a:lstStyle>
          <a:p>
            <a:endParaRPr lang="en-US" dirty="0"/>
          </a:p>
        </p:txBody>
      </p:sp>
      <p:sp>
        <p:nvSpPr>
          <p:cNvPr id="3" name="Date Placeholder 2"/>
          <p:cNvSpPr>
            <a:spLocks noGrp="1"/>
          </p:cNvSpPr>
          <p:nvPr>
            <p:ph type="dt" idx="1"/>
          </p:nvPr>
        </p:nvSpPr>
        <p:spPr>
          <a:xfrm>
            <a:off x="3978133" y="0"/>
            <a:ext cx="3043343" cy="467071"/>
          </a:xfrm>
          <a:prstGeom prst="rect">
            <a:avLst/>
          </a:prstGeom>
        </p:spPr>
        <p:txBody>
          <a:bodyPr vert="horz" lIns="93293" tIns="46647" rIns="93293" bIns="46647" rtlCol="0"/>
          <a:lstStyle>
            <a:lvl1pPr algn="r">
              <a:defRPr sz="1200"/>
            </a:lvl1pPr>
          </a:lstStyle>
          <a:p>
            <a:fld id="{59F099CF-6E90-4C14-AACD-FEA21303BCE2}" type="datetimeFigureOut">
              <a:rPr lang="en-US" smtClean="0"/>
              <a:t>1/12/23</a:t>
            </a:fld>
            <a:endParaRPr lang="en-US" dirty="0"/>
          </a:p>
        </p:txBody>
      </p:sp>
      <p:sp>
        <p:nvSpPr>
          <p:cNvPr id="4" name="Slide Image Placeholder 3"/>
          <p:cNvSpPr>
            <a:spLocks noGrp="1" noRot="1" noChangeAspect="1"/>
          </p:cNvSpPr>
          <p:nvPr>
            <p:ph type="sldImg" idx="2"/>
          </p:nvPr>
        </p:nvSpPr>
        <p:spPr>
          <a:xfrm>
            <a:off x="1417638" y="1163638"/>
            <a:ext cx="4187825" cy="3141662"/>
          </a:xfrm>
          <a:prstGeom prst="rect">
            <a:avLst/>
          </a:prstGeom>
          <a:noFill/>
          <a:ln w="12700">
            <a:solidFill>
              <a:prstClr val="black"/>
            </a:solidFill>
          </a:ln>
        </p:spPr>
        <p:txBody>
          <a:bodyPr vert="horz" lIns="93293" tIns="46647" rIns="93293" bIns="46647" rtlCol="0" anchor="ctr"/>
          <a:lstStyle/>
          <a:p>
            <a:endParaRPr lang="en-US" dirty="0"/>
          </a:p>
        </p:txBody>
      </p:sp>
      <p:sp>
        <p:nvSpPr>
          <p:cNvPr id="5" name="Notes Placeholder 4"/>
          <p:cNvSpPr>
            <a:spLocks noGrp="1"/>
          </p:cNvSpPr>
          <p:nvPr>
            <p:ph type="body" sz="quarter" idx="3"/>
          </p:nvPr>
        </p:nvSpPr>
        <p:spPr>
          <a:xfrm>
            <a:off x="702311" y="4480006"/>
            <a:ext cx="5618480" cy="3665459"/>
          </a:xfrm>
          <a:prstGeom prst="rect">
            <a:avLst/>
          </a:prstGeom>
        </p:spPr>
        <p:txBody>
          <a:bodyPr vert="horz" lIns="93293" tIns="46647" rIns="93293" bIns="4664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42031"/>
            <a:ext cx="3043343" cy="467070"/>
          </a:xfrm>
          <a:prstGeom prst="rect">
            <a:avLst/>
          </a:prstGeom>
        </p:spPr>
        <p:txBody>
          <a:bodyPr vert="horz" lIns="93293" tIns="46647" rIns="93293" bIns="46647"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3" y="8842031"/>
            <a:ext cx="3043343" cy="467070"/>
          </a:xfrm>
          <a:prstGeom prst="rect">
            <a:avLst/>
          </a:prstGeom>
        </p:spPr>
        <p:txBody>
          <a:bodyPr vert="horz" lIns="93293" tIns="46647" rIns="93293" bIns="46647" rtlCol="0" anchor="b"/>
          <a:lstStyle>
            <a:lvl1pPr algn="r">
              <a:defRPr sz="1200"/>
            </a:lvl1pPr>
          </a:lstStyle>
          <a:p>
            <a:fld id="{E262F593-AD9B-4352-A2D4-D77C9B23497F}" type="slidenum">
              <a:rPr lang="en-US" smtClean="0"/>
              <a:t>‹#›</a:t>
            </a:fld>
            <a:endParaRPr lang="en-US" dirty="0"/>
          </a:p>
        </p:txBody>
      </p:sp>
    </p:spTree>
    <p:extLst>
      <p:ext uri="{BB962C8B-B14F-4D97-AF65-F5344CB8AC3E}">
        <p14:creationId xmlns:p14="http://schemas.microsoft.com/office/powerpoint/2010/main" val="944771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dirty="0"/>
              <a:t>The strategic acquisition of Octane Fitness, which emphasizes core competencies in specialty retail and international distribution channels, is complementary to Nautilus’ strengths in the direct-to-consumer and mass merchant retail sales, however, an acquisition of Pivotal 5 would further enhance </a:t>
            </a:r>
          </a:p>
        </p:txBody>
      </p:sp>
      <p:sp>
        <p:nvSpPr>
          <p:cNvPr id="4" name="Slide Number Placeholder 3"/>
          <p:cNvSpPr>
            <a:spLocks noGrp="1"/>
          </p:cNvSpPr>
          <p:nvPr>
            <p:ph type="sldNum" sz="quarter" idx="10"/>
          </p:nvPr>
        </p:nvSpPr>
        <p:spPr/>
        <p:txBody>
          <a:bodyPr/>
          <a:lstStyle/>
          <a:p>
            <a:fld id="{E262F593-AD9B-4352-A2D4-D77C9B23497F}"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580205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USE THIS">
    <p:spTree>
      <p:nvGrpSpPr>
        <p:cNvPr id="1" name=""/>
        <p:cNvGrpSpPr/>
        <p:nvPr/>
      </p:nvGrpSpPr>
      <p:grpSpPr>
        <a:xfrm>
          <a:off x="0" y="0"/>
          <a:ext cx="0" cy="0"/>
          <a:chOff x="0" y="0"/>
          <a:chExt cx="0" cy="0"/>
        </a:xfrm>
      </p:grpSpPr>
      <p:sp>
        <p:nvSpPr>
          <p:cNvPr id="2" name="Title 1"/>
          <p:cNvSpPr>
            <a:spLocks noGrp="1"/>
          </p:cNvSpPr>
          <p:nvPr>
            <p:ph type="title"/>
          </p:nvPr>
        </p:nvSpPr>
        <p:spPr>
          <a:xfrm>
            <a:off x="304801" y="152401"/>
            <a:ext cx="8534400" cy="533400"/>
          </a:xfrm>
        </p:spPr>
        <p:txBody>
          <a:bodyPr/>
          <a:lstStyle>
            <a:lvl1pPr marL="0" algn="l" defTabSz="914400" rtl="0" eaLnBrk="1" fontAlgn="base" latinLnBrk="0" hangingPunct="1">
              <a:spcBef>
                <a:spcPct val="0"/>
              </a:spcBef>
              <a:spcAft>
                <a:spcPct val="0"/>
              </a:spcAft>
              <a:defRPr lang="en-US" sz="1500" b="1" kern="1200" cap="all" baseline="0" dirty="0">
                <a:solidFill>
                  <a:schemeClr val="tx1"/>
                </a:solidFill>
                <a:latin typeface="+mn-lt"/>
                <a:ea typeface="Roboto Lt" pitchFamily="2" charset="0"/>
                <a:cs typeface="Helvetica" panose="020B0604020202020204" pitchFamily="34" charset="0"/>
              </a:defRPr>
            </a:lvl1pPr>
          </a:lstStyle>
          <a:p>
            <a:r>
              <a:rPr lang="en-US" dirty="0"/>
              <a:t>Click to edit Master title style</a:t>
            </a:r>
          </a:p>
        </p:txBody>
      </p:sp>
      <p:sp>
        <p:nvSpPr>
          <p:cNvPr id="6" name="Footer Placeholder 9"/>
          <p:cNvSpPr>
            <a:spLocks noGrp="1"/>
          </p:cNvSpPr>
          <p:nvPr>
            <p:ph type="ftr" sz="quarter" idx="18"/>
          </p:nvPr>
        </p:nvSpPr>
        <p:spPr>
          <a:xfrm>
            <a:off x="457200" y="6384244"/>
            <a:ext cx="8229600" cy="182562"/>
          </a:xfrm>
        </p:spPr>
        <p:txBody>
          <a:bodyPr/>
          <a:lstStyle>
            <a:lvl1pPr>
              <a:defRPr/>
            </a:lvl1pPr>
          </a:lstStyle>
          <a:p>
            <a:endParaRPr lang="en-US" dirty="0">
              <a:solidFill>
                <a:prstClr val="black">
                  <a:lumMod val="65000"/>
                  <a:lumOff val="35000"/>
                </a:prstClr>
              </a:solidFill>
            </a:endParaRPr>
          </a:p>
        </p:txBody>
      </p:sp>
      <p:sp>
        <p:nvSpPr>
          <p:cNvPr id="11" name="Text Placeholder 14"/>
          <p:cNvSpPr>
            <a:spLocks noGrp="1"/>
          </p:cNvSpPr>
          <p:nvPr>
            <p:ph type="body" sz="quarter" idx="19"/>
          </p:nvPr>
        </p:nvSpPr>
        <p:spPr>
          <a:xfrm>
            <a:off x="457200" y="914400"/>
            <a:ext cx="8229600" cy="1125583"/>
          </a:xfrm>
          <a:prstGeom prst="rect">
            <a:avLst/>
          </a:prstGeom>
        </p:spPr>
        <p:txBody>
          <a:bodyPr/>
          <a:lstStyle>
            <a:lvl1pPr marL="0" indent="0" algn="just" defTabSz="914400" rtl="0" eaLnBrk="1" fontAlgn="base" latinLnBrk="0" hangingPunct="1">
              <a:lnSpc>
                <a:spcPct val="114000"/>
              </a:lnSpc>
              <a:spcBef>
                <a:spcPts val="300"/>
              </a:spcBef>
              <a:spcAft>
                <a:spcPts val="300"/>
              </a:spcAft>
              <a:buClrTx/>
              <a:buSzPct val="100000"/>
              <a:buFont typeface="Wingdings" pitchFamily="2" charset="2"/>
              <a:buNone/>
              <a:defRPr lang="en-US" sz="1000" b="1" kern="1200" dirty="0" smtClean="0">
                <a:solidFill>
                  <a:schemeClr val="tx1"/>
                </a:solidFill>
                <a:latin typeface="+mn-lt"/>
                <a:ea typeface="Roboto Lt" pitchFamily="2" charset="0"/>
                <a:cs typeface="Helvetica" panose="020B0604020202020204" pitchFamily="34" charset="0"/>
              </a:defRPr>
            </a:lvl1pPr>
            <a:lvl2pPr marL="410779" indent="-204794" algn="just">
              <a:spcAft>
                <a:spcPts val="300"/>
              </a:spcAft>
              <a:buClrTx/>
              <a:buSzPct val="100000"/>
              <a:buFont typeface="Courier New" panose="02070309020205020404" pitchFamily="49" charset="0"/>
              <a:buChar char="o"/>
              <a:defRPr lang="en-US" sz="950" kern="1200" dirty="0" smtClean="0">
                <a:solidFill>
                  <a:schemeClr val="tx1"/>
                </a:solidFill>
                <a:latin typeface="+mn-lt"/>
                <a:ea typeface="+mn-ea"/>
                <a:cs typeface="+mn-cs"/>
              </a:defRPr>
            </a:lvl2pPr>
            <a:lvl3pPr marL="616763" indent="-171456" algn="just">
              <a:spcAft>
                <a:spcPts val="300"/>
              </a:spcAft>
              <a:buFont typeface="Courier New" panose="02070309020205020404" pitchFamily="49" charset="0"/>
              <a:buChar char="o"/>
              <a:defRPr lang="en-US" sz="900" kern="1200" dirty="0" smtClean="0">
                <a:solidFill>
                  <a:schemeClr val="tx1"/>
                </a:solidFill>
                <a:latin typeface="+mn-lt"/>
                <a:ea typeface="+mn-ea"/>
                <a:cs typeface="+mn-cs"/>
              </a:defRPr>
            </a:lvl3pPr>
          </a:lstStyle>
          <a:p>
            <a:pPr marL="204794" lvl="0" indent="-204794" algn="l" rtl="0" eaLnBrk="1" fontAlgn="base" hangingPunct="1">
              <a:lnSpc>
                <a:spcPct val="114000"/>
              </a:lnSpc>
              <a:spcBef>
                <a:spcPts val="450"/>
              </a:spcBef>
              <a:spcAft>
                <a:spcPct val="0"/>
              </a:spcAft>
              <a:buClrTx/>
              <a:buSzPct val="76000"/>
              <a:buFont typeface="Wingdings" pitchFamily="2" charset="2"/>
              <a:buChar char="§"/>
            </a:pPr>
            <a:r>
              <a:rPr lang="en-US" dirty="0"/>
              <a:t>Click to edit Master text styles</a:t>
            </a:r>
          </a:p>
          <a:p>
            <a:pPr marL="410779" lvl="1" indent="-204794" algn="l" rtl="0" eaLnBrk="1" fontAlgn="base" hangingPunct="1">
              <a:lnSpc>
                <a:spcPct val="114000"/>
              </a:lnSpc>
              <a:spcBef>
                <a:spcPts val="225"/>
              </a:spcBef>
              <a:spcAft>
                <a:spcPts val="225"/>
              </a:spcAft>
              <a:buClrTx/>
              <a:buSzPct val="76000"/>
              <a:buFont typeface="Wingdings" pitchFamily="2" charset="2"/>
              <a:buChar char="q"/>
              <a:defRPr/>
            </a:pPr>
            <a:r>
              <a:rPr lang="en-US" dirty="0"/>
              <a:t>Second level</a:t>
            </a:r>
          </a:p>
          <a:p>
            <a:pPr marL="616763" lvl="2" indent="-171456" algn="l" rtl="0" eaLnBrk="1" fontAlgn="base" hangingPunct="1">
              <a:spcBef>
                <a:spcPct val="0"/>
              </a:spcBef>
              <a:spcAft>
                <a:spcPts val="225"/>
              </a:spcAft>
              <a:buClrTx/>
              <a:buSzPct val="76000"/>
              <a:buFont typeface="Wingdings" panose="05000000000000000000" pitchFamily="2" charset="2"/>
              <a:buChar char="Ø"/>
            </a:pPr>
            <a:r>
              <a:rPr lang="en-US" dirty="0"/>
              <a:t>Third level</a:t>
            </a:r>
          </a:p>
        </p:txBody>
      </p:sp>
      <p:sp>
        <p:nvSpPr>
          <p:cNvPr id="8" name="Slide Number Placeholder 22"/>
          <p:cNvSpPr txBox="1">
            <a:spLocks/>
          </p:cNvSpPr>
          <p:nvPr userDrawn="1"/>
        </p:nvSpPr>
        <p:spPr>
          <a:xfrm>
            <a:off x="4297073" y="6556375"/>
            <a:ext cx="549853" cy="225425"/>
          </a:xfrm>
          <a:prstGeom prst="rect">
            <a:avLst/>
          </a:prstGeom>
        </p:spPr>
        <p:txBody>
          <a:bodyPr vert="horz" anchor="ctr"/>
          <a:lstStyle>
            <a:defPPr>
              <a:defRPr lang="en-US"/>
            </a:defPPr>
            <a:lvl1pPr marL="0" algn="ctr" defTabSz="914400" rtl="0" eaLnBrk="1" fontAlgn="auto" latinLnBrk="0" hangingPunct="1">
              <a:spcBef>
                <a:spcPts val="0"/>
              </a:spcBef>
              <a:spcAft>
                <a:spcPts val="0"/>
              </a:spcAft>
              <a:defRPr kumimoji="0" sz="1051"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E597324-71BB-4312-8794-C30754F659B3}" type="slidenum">
              <a:rPr lang="en-US" smtClean="0">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2901805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3" name="Title Placeholder 21"/>
          <p:cNvSpPr>
            <a:spLocks noGrp="1"/>
          </p:cNvSpPr>
          <p:nvPr>
            <p:ph type="title"/>
          </p:nvPr>
        </p:nvSpPr>
        <p:spPr bwMode="auto">
          <a:xfrm>
            <a:off x="228601" y="152401"/>
            <a:ext cx="8610600"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5" name="Footer Placeholder 9"/>
          <p:cNvSpPr>
            <a:spLocks noGrp="1"/>
          </p:cNvSpPr>
          <p:nvPr>
            <p:ph type="ftr" sz="quarter" idx="3"/>
          </p:nvPr>
        </p:nvSpPr>
        <p:spPr>
          <a:xfrm>
            <a:off x="304801" y="6294440"/>
            <a:ext cx="8534400" cy="182562"/>
          </a:xfrm>
          <a:prstGeom prst="rect">
            <a:avLst/>
          </a:prstGeom>
        </p:spPr>
        <p:txBody>
          <a:bodyPr vert="horz" lIns="91440" tIns="45720" rIns="91440" bIns="45720" rtlCol="0" anchor="ctr"/>
          <a:lstStyle>
            <a:lvl1pPr algn="l" fontAlgn="auto">
              <a:spcBef>
                <a:spcPts val="0"/>
              </a:spcBef>
              <a:spcAft>
                <a:spcPts val="0"/>
              </a:spcAft>
              <a:defRPr sz="675" i="1">
                <a:solidFill>
                  <a:schemeClr val="tx1">
                    <a:lumMod val="65000"/>
                    <a:lumOff val="35000"/>
                  </a:schemeClr>
                </a:solidFill>
                <a:latin typeface="+mn-lt"/>
              </a:defRPr>
            </a:lvl1pPr>
          </a:lstStyle>
          <a:p>
            <a:endParaRPr lang="en-US" dirty="0">
              <a:solidFill>
                <a:prstClr val="black">
                  <a:lumMod val="65000"/>
                  <a:lumOff val="35000"/>
                </a:prstClr>
              </a:solidFill>
            </a:endParaRPr>
          </a:p>
        </p:txBody>
      </p:sp>
      <p:sp>
        <p:nvSpPr>
          <p:cNvPr id="6" name="Rectangle 5"/>
          <p:cNvSpPr>
            <a:spLocks noChangeArrowheads="1"/>
          </p:cNvSpPr>
          <p:nvPr userDrawn="1"/>
        </p:nvSpPr>
        <p:spPr bwMode="auto">
          <a:xfrm>
            <a:off x="319881" y="685801"/>
            <a:ext cx="8504238" cy="8573"/>
          </a:xfrm>
          <a:prstGeom prst="rect">
            <a:avLst/>
          </a:prstGeom>
          <a:solidFill>
            <a:schemeClr val="tx1"/>
          </a:solidFill>
          <a:ln>
            <a:noFill/>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spcBef>
                <a:spcPct val="50000"/>
              </a:spcBef>
              <a:buClr>
                <a:prstClr val="white"/>
              </a:buClr>
              <a:buSzPct val="80000"/>
              <a:buFont typeface="Wingdings" pitchFamily="2" charset="2"/>
              <a:buNone/>
              <a:defRPr/>
            </a:pPr>
            <a:endParaRPr lang="en-US" sz="1350" dirty="0">
              <a:solidFill>
                <a:srgbClr val="000000"/>
              </a:solidFill>
            </a:endParaRPr>
          </a:p>
        </p:txBody>
      </p:sp>
      <p:sp>
        <p:nvSpPr>
          <p:cNvPr id="8" name="Slide Number Placeholder 22"/>
          <p:cNvSpPr>
            <a:spLocks noGrp="1"/>
          </p:cNvSpPr>
          <p:nvPr>
            <p:ph type="sldNum" sz="quarter" idx="4"/>
          </p:nvPr>
        </p:nvSpPr>
        <p:spPr>
          <a:xfrm>
            <a:off x="4326346" y="6556375"/>
            <a:ext cx="491306" cy="225425"/>
          </a:xfrm>
          <a:prstGeom prst="rect">
            <a:avLst/>
          </a:prstGeom>
        </p:spPr>
        <p:txBody>
          <a:bodyPr vert="horz" anchor="ctr"/>
          <a:lstStyle>
            <a:lvl1pPr algn="ctr" eaLnBrk="1" fontAlgn="auto" latinLnBrk="0" hangingPunct="1">
              <a:spcBef>
                <a:spcPts val="0"/>
              </a:spcBef>
              <a:spcAft>
                <a:spcPts val="0"/>
              </a:spcAft>
              <a:defRPr kumimoji="0" sz="1051" smtClean="0">
                <a:solidFill>
                  <a:schemeClr val="tx1"/>
                </a:solidFill>
                <a:latin typeface="+mn-lt"/>
              </a:defRPr>
            </a:lvl1pPr>
          </a:lstStyle>
          <a:p>
            <a:pPr>
              <a:defRPr/>
            </a:pPr>
            <a:fld id="{0E597324-71BB-4312-8794-C30754F659B3}" type="slidenum">
              <a:rPr lang="en-US" smtClean="0">
                <a:solidFill>
                  <a:srgbClr val="000000"/>
                </a:solidFill>
              </a:rPr>
              <a:pPr>
                <a:defRPr/>
              </a:pPr>
              <a:t>‹#›</a:t>
            </a:fld>
            <a:endParaRPr lang="en-US" dirty="0">
              <a:solidFill>
                <a:srgbClr val="000000"/>
              </a:solidFill>
            </a:endParaRPr>
          </a:p>
        </p:txBody>
      </p:sp>
      <p:pic>
        <p:nvPicPr>
          <p:cNvPr id="14" name="Picture 4">
            <a:extLst>
              <a:ext uri="{FF2B5EF4-FFF2-40B4-BE49-F238E27FC236}">
                <a16:creationId xmlns:a16="http://schemas.microsoft.com/office/drawing/2014/main" id="{3A55EE3D-15BB-427A-83D4-3C555B1D7AF4}"/>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02415" y="260918"/>
            <a:ext cx="1196954" cy="323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6980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534400" cy="533400"/>
          </a:xfrm>
        </p:spPr>
        <p:txBody>
          <a:bodyPr/>
          <a:lstStyle/>
          <a:p>
            <a:r>
              <a:rPr lang="en-US" dirty="0"/>
              <a:t>Click to edit Master title style</a:t>
            </a:r>
          </a:p>
        </p:txBody>
      </p:sp>
      <p:sp>
        <p:nvSpPr>
          <p:cNvPr id="6" name="Slide Number Placeholder 22"/>
          <p:cNvSpPr>
            <a:spLocks noGrp="1"/>
          </p:cNvSpPr>
          <p:nvPr>
            <p:ph type="sldNum" sz="quarter" idx="4"/>
          </p:nvPr>
        </p:nvSpPr>
        <p:spPr>
          <a:xfrm>
            <a:off x="4036219" y="6562725"/>
            <a:ext cx="1071562" cy="225425"/>
          </a:xfrm>
          <a:prstGeom prst="rect">
            <a:avLst/>
          </a:prstGeom>
        </p:spPr>
        <p:txBody>
          <a:bodyPr vert="horz" anchor="ctr"/>
          <a:lstStyle>
            <a:lvl1pPr algn="ctr" eaLnBrk="1" fontAlgn="auto" latinLnBrk="0" hangingPunct="1">
              <a:spcBef>
                <a:spcPts val="0"/>
              </a:spcBef>
              <a:spcAft>
                <a:spcPts val="0"/>
              </a:spcAft>
              <a:defRPr kumimoji="0" sz="1050" smtClean="0">
                <a:solidFill>
                  <a:schemeClr val="tx1"/>
                </a:solidFill>
                <a:latin typeface="+mn-lt"/>
              </a:defRPr>
            </a:lvl1pPr>
          </a:lstStyle>
          <a:p>
            <a:pPr>
              <a:defRPr/>
            </a:pPr>
            <a:fld id="{0E597324-71BB-4312-8794-C30754F659B3}" type="slidenum">
              <a:rPr lang="en-US">
                <a:solidFill>
                  <a:srgbClr val="000000"/>
                </a:solidFill>
              </a:rPr>
              <a:pPr>
                <a:defRPr/>
              </a:pPr>
              <a:t>‹#›</a:t>
            </a:fld>
            <a:endParaRPr lang="en-US" dirty="0">
              <a:solidFill>
                <a:srgbClr val="000000"/>
              </a:solidFill>
            </a:endParaRPr>
          </a:p>
        </p:txBody>
      </p:sp>
      <p:sp>
        <p:nvSpPr>
          <p:cNvPr id="15" name="Text Placeholder 14"/>
          <p:cNvSpPr>
            <a:spLocks noGrp="1"/>
          </p:cNvSpPr>
          <p:nvPr>
            <p:ph type="body" sz="quarter" idx="13"/>
          </p:nvPr>
        </p:nvSpPr>
        <p:spPr>
          <a:xfrm>
            <a:off x="304800" y="911352"/>
            <a:ext cx="8531352" cy="5337048"/>
          </a:xfrm>
          <a:prstGeom prst="rect">
            <a:avLst/>
          </a:prstGeom>
        </p:spPr>
        <p:txBody>
          <a:bodyPr/>
          <a:lstStyle>
            <a:lvl1pPr algn="just">
              <a:buClrTx/>
              <a:defRPr lang="en-US" sz="1050" kern="1200" dirty="0" smtClean="0">
                <a:solidFill>
                  <a:schemeClr val="tx1"/>
                </a:solidFill>
                <a:latin typeface="+mn-lt"/>
                <a:ea typeface="+mn-ea"/>
                <a:cs typeface="+mn-cs"/>
              </a:defRPr>
            </a:lvl1pPr>
            <a:lvl2pPr algn="just">
              <a:buClrTx/>
              <a:buFont typeface="Wingdings" pitchFamily="2" charset="2"/>
              <a:buChar char="q"/>
              <a:defRPr lang="en-US" sz="950" kern="1200" dirty="0" smtClean="0">
                <a:solidFill>
                  <a:schemeClr val="tx1"/>
                </a:solidFill>
                <a:latin typeface="+mn-lt"/>
                <a:ea typeface="+mn-ea"/>
                <a:cs typeface="+mn-cs"/>
              </a:defRPr>
            </a:lvl2pPr>
            <a:lvl3pPr algn="just">
              <a:buClrTx/>
              <a:buFont typeface="Wingdings" pitchFamily="2" charset="2"/>
              <a:buChar char="q"/>
              <a:defRPr lang="en-US" sz="950" kern="1200" dirty="0" smtClean="0">
                <a:solidFill>
                  <a:schemeClr val="tx1"/>
                </a:solidFill>
                <a:latin typeface="+mn-lt"/>
                <a:ea typeface="+mn-ea"/>
                <a:cs typeface="+mn-cs"/>
              </a:defRPr>
            </a:lvl3pPr>
          </a:lstStyle>
          <a:p>
            <a:pPr marL="273050" lvl="0" indent="-273050" algn="l" rtl="0" eaLnBrk="1" fontAlgn="base" hangingPunct="1">
              <a:lnSpc>
                <a:spcPct val="114000"/>
              </a:lnSpc>
              <a:spcBef>
                <a:spcPts val="600"/>
              </a:spcBef>
              <a:spcAft>
                <a:spcPct val="0"/>
              </a:spcAft>
              <a:buClrTx/>
              <a:buSzPct val="76000"/>
              <a:buFont typeface="Wingdings" pitchFamily="2" charset="2"/>
              <a:buChar char="§"/>
            </a:pPr>
            <a:r>
              <a:rPr lang="en-US" dirty="0"/>
              <a:t>Click to edit Master text styles</a:t>
            </a:r>
          </a:p>
          <a:p>
            <a:pPr marL="547688" lvl="1" indent="-273050" algn="just" rtl="0" eaLnBrk="1" fontAlgn="base" hangingPunct="1">
              <a:lnSpc>
                <a:spcPct val="114000"/>
              </a:lnSpc>
              <a:spcBef>
                <a:spcPts val="300"/>
              </a:spcBef>
              <a:spcAft>
                <a:spcPts val="300"/>
              </a:spcAft>
              <a:buClrTx/>
              <a:buSzPct val="76000"/>
              <a:buFont typeface="Wingdings" pitchFamily="2" charset="2"/>
              <a:buChar char="q"/>
              <a:defRPr/>
            </a:pPr>
            <a:r>
              <a:rPr lang="en-US" dirty="0"/>
              <a:t>Second level</a:t>
            </a:r>
          </a:p>
          <a:p>
            <a:pPr marL="822325" lvl="2" indent="-228600" algn="l" rtl="0" eaLnBrk="1" fontAlgn="base" hangingPunct="1">
              <a:spcBef>
                <a:spcPct val="0"/>
              </a:spcBef>
              <a:spcAft>
                <a:spcPts val="300"/>
              </a:spcAft>
              <a:buClrTx/>
              <a:buSzPct val="76000"/>
              <a:buFont typeface="Wingdings 3" pitchFamily="18" charset="2"/>
              <a:buChar char=""/>
            </a:pPr>
            <a:r>
              <a:rPr lang="en-US" dirty="0"/>
              <a:t>Third level</a:t>
            </a:r>
          </a:p>
        </p:txBody>
      </p:sp>
      <p:sp>
        <p:nvSpPr>
          <p:cNvPr id="7" name="TextBox 6"/>
          <p:cNvSpPr txBox="1"/>
          <p:nvPr userDrawn="1"/>
        </p:nvSpPr>
        <p:spPr>
          <a:xfrm>
            <a:off x="-1066800" y="304800"/>
            <a:ext cx="9144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226530248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21"/>
          <p:cNvSpPr>
            <a:spLocks noGrp="1"/>
          </p:cNvSpPr>
          <p:nvPr>
            <p:ph type="title"/>
          </p:nvPr>
        </p:nvSpPr>
        <p:spPr bwMode="auto">
          <a:xfrm>
            <a:off x="228601" y="152401"/>
            <a:ext cx="8610600"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28" name="Text Placeholder 12"/>
          <p:cNvSpPr>
            <a:spLocks noGrp="1"/>
          </p:cNvSpPr>
          <p:nvPr>
            <p:ph type="body" idx="1"/>
          </p:nvPr>
        </p:nvSpPr>
        <p:spPr bwMode="auto">
          <a:xfrm>
            <a:off x="304801" y="838200"/>
            <a:ext cx="8534400" cy="5486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marL="410779" lvl="1" indent="-204794" algn="l" rtl="0" eaLnBrk="1" fontAlgn="base" hangingPunct="1">
              <a:lnSpc>
                <a:spcPct val="114000"/>
              </a:lnSpc>
              <a:spcBef>
                <a:spcPts val="225"/>
              </a:spcBef>
              <a:spcAft>
                <a:spcPts val="225"/>
              </a:spcAft>
              <a:buClrTx/>
              <a:buSzPct val="76000"/>
              <a:buFont typeface="Wingdings" pitchFamily="2" charset="2"/>
              <a:buChar char="q"/>
              <a:defRPr/>
            </a:pPr>
            <a:r>
              <a:rPr lang="en-US" dirty="0"/>
              <a:t>Second level</a:t>
            </a:r>
          </a:p>
          <a:p>
            <a:pPr lvl="2"/>
            <a:r>
              <a:rPr lang="en-US" dirty="0"/>
              <a:t>Third level</a:t>
            </a:r>
          </a:p>
        </p:txBody>
      </p:sp>
      <p:sp>
        <p:nvSpPr>
          <p:cNvPr id="10" name="Footer Placeholder 9"/>
          <p:cNvSpPr>
            <a:spLocks noGrp="1"/>
          </p:cNvSpPr>
          <p:nvPr>
            <p:ph type="ftr" sz="quarter" idx="3"/>
          </p:nvPr>
        </p:nvSpPr>
        <p:spPr>
          <a:xfrm>
            <a:off x="304801" y="6294440"/>
            <a:ext cx="8534400" cy="182562"/>
          </a:xfrm>
          <a:prstGeom prst="rect">
            <a:avLst/>
          </a:prstGeom>
        </p:spPr>
        <p:txBody>
          <a:bodyPr vert="horz" lIns="91440" tIns="45720" rIns="91440" bIns="45720" rtlCol="0" anchor="ctr"/>
          <a:lstStyle>
            <a:lvl1pPr algn="l" fontAlgn="auto">
              <a:spcBef>
                <a:spcPts val="0"/>
              </a:spcBef>
              <a:spcAft>
                <a:spcPts val="0"/>
              </a:spcAft>
              <a:defRPr sz="675" i="1">
                <a:solidFill>
                  <a:schemeClr val="tx1">
                    <a:lumMod val="65000"/>
                    <a:lumOff val="35000"/>
                  </a:schemeClr>
                </a:solidFill>
                <a:latin typeface="+mn-lt"/>
              </a:defRPr>
            </a:lvl1pPr>
          </a:lstStyle>
          <a:p>
            <a:endParaRPr lang="en-US" dirty="0">
              <a:solidFill>
                <a:prstClr val="black">
                  <a:lumMod val="65000"/>
                  <a:lumOff val="35000"/>
                </a:prstClr>
              </a:solidFill>
            </a:endParaRPr>
          </a:p>
        </p:txBody>
      </p:sp>
      <p:sp>
        <p:nvSpPr>
          <p:cNvPr id="16" name="Rectangle 15"/>
          <p:cNvSpPr>
            <a:spLocks noChangeArrowheads="1"/>
          </p:cNvSpPr>
          <p:nvPr/>
        </p:nvSpPr>
        <p:spPr bwMode="auto">
          <a:xfrm>
            <a:off x="319881" y="685801"/>
            <a:ext cx="8504238" cy="8573"/>
          </a:xfrm>
          <a:prstGeom prst="rect">
            <a:avLst/>
          </a:prstGeom>
          <a:solidFill>
            <a:schemeClr val="tx1"/>
          </a:solidFill>
          <a:ln>
            <a:noFill/>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spcBef>
                <a:spcPct val="50000"/>
              </a:spcBef>
              <a:buClr>
                <a:prstClr val="white"/>
              </a:buClr>
              <a:buSzPct val="80000"/>
              <a:buFont typeface="Wingdings" pitchFamily="2" charset="2"/>
              <a:buNone/>
              <a:defRPr/>
            </a:pPr>
            <a:endParaRPr lang="en-US" sz="1350" dirty="0">
              <a:solidFill>
                <a:srgbClr val="000000"/>
              </a:solidFill>
            </a:endParaRPr>
          </a:p>
        </p:txBody>
      </p:sp>
      <p:sp>
        <p:nvSpPr>
          <p:cNvPr id="13" name="Slide Number Placeholder 22"/>
          <p:cNvSpPr>
            <a:spLocks noGrp="1"/>
          </p:cNvSpPr>
          <p:nvPr>
            <p:ph type="sldNum" sz="quarter" idx="4"/>
          </p:nvPr>
        </p:nvSpPr>
        <p:spPr>
          <a:xfrm>
            <a:off x="4326346" y="6556375"/>
            <a:ext cx="491306" cy="225425"/>
          </a:xfrm>
          <a:prstGeom prst="rect">
            <a:avLst/>
          </a:prstGeom>
        </p:spPr>
        <p:txBody>
          <a:bodyPr vert="horz" anchor="ctr"/>
          <a:lstStyle>
            <a:lvl1pPr algn="ctr" eaLnBrk="1" fontAlgn="auto" latinLnBrk="0" hangingPunct="1">
              <a:spcBef>
                <a:spcPts val="0"/>
              </a:spcBef>
              <a:spcAft>
                <a:spcPts val="0"/>
              </a:spcAft>
              <a:defRPr kumimoji="0" sz="1051" smtClean="0">
                <a:solidFill>
                  <a:schemeClr val="tx1"/>
                </a:solidFill>
                <a:latin typeface="+mn-lt"/>
              </a:defRPr>
            </a:lvl1pPr>
          </a:lstStyle>
          <a:p>
            <a:pPr>
              <a:defRPr/>
            </a:pPr>
            <a:fld id="{0E597324-71BB-4312-8794-C30754F659B3}" type="slidenum">
              <a:rPr lang="en-US" smtClean="0">
                <a:solidFill>
                  <a:srgbClr val="000000"/>
                </a:solidFill>
              </a:rPr>
              <a:pPr>
                <a:defRPr/>
              </a:pPr>
              <a:t>‹#›</a:t>
            </a:fld>
            <a:endParaRPr lang="en-US" dirty="0">
              <a:solidFill>
                <a:srgbClr val="000000"/>
              </a:solidFill>
            </a:endParaRPr>
          </a:p>
        </p:txBody>
      </p:sp>
      <p:pic>
        <p:nvPicPr>
          <p:cNvPr id="6" name="Picture 5" descr="Text, logo&#10;&#10;Description automatically generated">
            <a:extLst>
              <a:ext uri="{FF2B5EF4-FFF2-40B4-BE49-F238E27FC236}">
                <a16:creationId xmlns:a16="http://schemas.microsoft.com/office/drawing/2014/main" id="{146F02E6-416A-BC5D-D33C-7AB17E376F6D}"/>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074634" y="-904401"/>
            <a:ext cx="3180397" cy="3180397"/>
          </a:xfrm>
          <a:prstGeom prst="rect">
            <a:avLst/>
          </a:prstGeom>
        </p:spPr>
      </p:pic>
    </p:spTree>
    <p:extLst>
      <p:ext uri="{BB962C8B-B14F-4D97-AF65-F5344CB8AC3E}">
        <p14:creationId xmlns:p14="http://schemas.microsoft.com/office/powerpoint/2010/main" val="686480307"/>
      </p:ext>
    </p:extLst>
  </p:cSld>
  <p:clrMap bg1="lt1" tx1="dk1" bg2="lt2" tx2="dk2" accent1="accent1" accent2="accent2" accent3="accent3" accent4="accent4" accent5="accent5" accent6="accent6" hlink="hlink" folHlink="folHlink"/>
  <p:sldLayoutIdLst>
    <p:sldLayoutId id="2147483813" r:id="rId1"/>
    <p:sldLayoutId id="2147484331" r:id="rId2"/>
    <p:sldLayoutId id="2147484332" r:id="rId3"/>
  </p:sldLayoutIdLst>
  <p:txStyles>
    <p:titleStyle>
      <a:lvl1pPr marL="0" algn="l" defTabSz="914400" rtl="0" eaLnBrk="1" fontAlgn="base" latinLnBrk="0" hangingPunct="1">
        <a:spcBef>
          <a:spcPct val="0"/>
        </a:spcBef>
        <a:spcAft>
          <a:spcPct val="0"/>
        </a:spcAft>
        <a:defRPr lang="en-US" sz="1500" b="0" kern="1200" cap="all" baseline="0" dirty="0" smtClean="0">
          <a:solidFill>
            <a:schemeClr val="tx1"/>
          </a:solidFill>
          <a:latin typeface="+mn-lt"/>
          <a:ea typeface="+mj-ea"/>
          <a:cs typeface="Helvetica" panose="020B0604020202020204" pitchFamily="34" charset="0"/>
        </a:defRPr>
      </a:lvl1pPr>
      <a:lvl2pPr algn="l" rtl="0" eaLnBrk="1" fontAlgn="base" hangingPunct="1">
        <a:spcBef>
          <a:spcPct val="0"/>
        </a:spcBef>
        <a:spcAft>
          <a:spcPct val="0"/>
        </a:spcAft>
        <a:defRPr sz="1800">
          <a:solidFill>
            <a:srgbClr val="2A3647"/>
          </a:solidFill>
          <a:latin typeface="Cambria" pitchFamily="18" charset="0"/>
        </a:defRPr>
      </a:lvl2pPr>
      <a:lvl3pPr algn="l" rtl="0" eaLnBrk="1" fontAlgn="base" hangingPunct="1">
        <a:spcBef>
          <a:spcPct val="0"/>
        </a:spcBef>
        <a:spcAft>
          <a:spcPct val="0"/>
        </a:spcAft>
        <a:defRPr sz="1800">
          <a:solidFill>
            <a:srgbClr val="2A3647"/>
          </a:solidFill>
          <a:latin typeface="Cambria" pitchFamily="18" charset="0"/>
        </a:defRPr>
      </a:lvl3pPr>
      <a:lvl4pPr algn="l" rtl="0" eaLnBrk="1" fontAlgn="base" hangingPunct="1">
        <a:spcBef>
          <a:spcPct val="0"/>
        </a:spcBef>
        <a:spcAft>
          <a:spcPct val="0"/>
        </a:spcAft>
        <a:defRPr sz="1800">
          <a:solidFill>
            <a:srgbClr val="2A3647"/>
          </a:solidFill>
          <a:latin typeface="Cambria" pitchFamily="18" charset="0"/>
        </a:defRPr>
      </a:lvl4pPr>
      <a:lvl5pPr algn="l" rtl="0" eaLnBrk="1" fontAlgn="base" hangingPunct="1">
        <a:spcBef>
          <a:spcPct val="0"/>
        </a:spcBef>
        <a:spcAft>
          <a:spcPct val="0"/>
        </a:spcAft>
        <a:defRPr sz="1800">
          <a:solidFill>
            <a:srgbClr val="2A3647"/>
          </a:solidFill>
          <a:latin typeface="Cambria" pitchFamily="18" charset="0"/>
        </a:defRPr>
      </a:lvl5pPr>
      <a:lvl6pPr marL="342911" algn="l" rtl="0" eaLnBrk="1" fontAlgn="base" hangingPunct="1">
        <a:spcBef>
          <a:spcPct val="0"/>
        </a:spcBef>
        <a:spcAft>
          <a:spcPct val="0"/>
        </a:spcAft>
        <a:defRPr sz="1800">
          <a:solidFill>
            <a:schemeClr val="tx2"/>
          </a:solidFill>
          <a:latin typeface="Cambria" pitchFamily="18" charset="0"/>
        </a:defRPr>
      </a:lvl6pPr>
      <a:lvl7pPr marL="685821" algn="l" rtl="0" eaLnBrk="1" fontAlgn="base" hangingPunct="1">
        <a:spcBef>
          <a:spcPct val="0"/>
        </a:spcBef>
        <a:spcAft>
          <a:spcPct val="0"/>
        </a:spcAft>
        <a:defRPr sz="1800">
          <a:solidFill>
            <a:schemeClr val="tx2"/>
          </a:solidFill>
          <a:latin typeface="Cambria" pitchFamily="18" charset="0"/>
        </a:defRPr>
      </a:lvl7pPr>
      <a:lvl8pPr marL="1028732" algn="l" rtl="0" eaLnBrk="1" fontAlgn="base" hangingPunct="1">
        <a:spcBef>
          <a:spcPct val="0"/>
        </a:spcBef>
        <a:spcAft>
          <a:spcPct val="0"/>
        </a:spcAft>
        <a:defRPr sz="1800">
          <a:solidFill>
            <a:schemeClr val="tx2"/>
          </a:solidFill>
          <a:latin typeface="Cambria" pitchFamily="18" charset="0"/>
        </a:defRPr>
      </a:lvl8pPr>
      <a:lvl9pPr marL="1371643" algn="l" rtl="0" eaLnBrk="1" fontAlgn="base" hangingPunct="1">
        <a:spcBef>
          <a:spcPct val="0"/>
        </a:spcBef>
        <a:spcAft>
          <a:spcPct val="0"/>
        </a:spcAft>
        <a:defRPr sz="1800">
          <a:solidFill>
            <a:schemeClr val="tx2"/>
          </a:solidFill>
          <a:latin typeface="Cambria" pitchFamily="18" charset="0"/>
        </a:defRPr>
      </a:lvl9pPr>
    </p:titleStyle>
    <p:bodyStyle>
      <a:lvl1pPr marL="204794" indent="-204794" algn="l" rtl="0" eaLnBrk="1" fontAlgn="base" hangingPunct="1">
        <a:lnSpc>
          <a:spcPct val="114000"/>
        </a:lnSpc>
        <a:spcBef>
          <a:spcPts val="900"/>
        </a:spcBef>
        <a:spcAft>
          <a:spcPct val="0"/>
        </a:spcAft>
        <a:buClrTx/>
        <a:buSzPct val="100000"/>
        <a:buFont typeface="Wingdings" pitchFamily="2" charset="2"/>
        <a:buChar char="§"/>
        <a:defRPr sz="788" kern="1200">
          <a:solidFill>
            <a:schemeClr val="tx1"/>
          </a:solidFill>
          <a:latin typeface="+mn-lt"/>
          <a:ea typeface="+mn-ea"/>
          <a:cs typeface="+mn-cs"/>
        </a:defRPr>
      </a:lvl1pPr>
      <a:lvl2pPr marL="410779" indent="-204794" algn="l" rtl="0" eaLnBrk="1" fontAlgn="base" hangingPunct="1">
        <a:lnSpc>
          <a:spcPct val="114000"/>
        </a:lnSpc>
        <a:spcBef>
          <a:spcPts val="225"/>
        </a:spcBef>
        <a:spcAft>
          <a:spcPts val="225"/>
        </a:spcAft>
        <a:buClrTx/>
        <a:buSzPct val="76000"/>
        <a:buFont typeface="Wingdings" pitchFamily="2" charset="2"/>
        <a:buChar char="q"/>
        <a:defRPr lang="en-US" sz="713" kern="1200" dirty="0" smtClean="0">
          <a:solidFill>
            <a:schemeClr val="tx1"/>
          </a:solidFill>
          <a:latin typeface="+mn-lt"/>
          <a:ea typeface="+mn-ea"/>
          <a:cs typeface="+mn-cs"/>
        </a:defRPr>
      </a:lvl2pPr>
      <a:lvl3pPr marL="616763" indent="-171456" algn="l" rtl="0" eaLnBrk="1" fontAlgn="base" hangingPunct="1">
        <a:spcBef>
          <a:spcPct val="0"/>
        </a:spcBef>
        <a:spcAft>
          <a:spcPts val="225"/>
        </a:spcAft>
        <a:buClrTx/>
        <a:buSzPct val="76000"/>
        <a:buFont typeface="Wingdings" panose="05000000000000000000" pitchFamily="2" charset="2"/>
        <a:buChar char="Ø"/>
        <a:defRPr sz="675" kern="1200">
          <a:solidFill>
            <a:schemeClr val="tx1"/>
          </a:solidFill>
          <a:latin typeface="+mn-lt"/>
          <a:ea typeface="+mn-ea"/>
          <a:cs typeface="+mn-cs"/>
        </a:defRPr>
      </a:lvl3pPr>
      <a:lvl4pPr marL="822748" indent="-171456" algn="l" rtl="0" eaLnBrk="1" fontAlgn="base" hangingPunct="1">
        <a:spcBef>
          <a:spcPts val="225"/>
        </a:spcBef>
        <a:spcAft>
          <a:spcPts val="225"/>
        </a:spcAft>
        <a:buClr>
          <a:srgbClr val="797951"/>
        </a:buClr>
        <a:buSzPct val="70000"/>
        <a:buFont typeface="Wingdings" pitchFamily="2" charset="2"/>
        <a:buChar char=""/>
        <a:defRPr sz="825" kern="1200">
          <a:solidFill>
            <a:schemeClr val="tx1"/>
          </a:solidFill>
          <a:latin typeface="+mn-lt"/>
          <a:ea typeface="+mn-ea"/>
          <a:cs typeface="+mn-cs"/>
        </a:defRPr>
      </a:lvl4pPr>
      <a:lvl5pPr marL="1028732" indent="-171456" algn="l" rtl="0" eaLnBrk="1" fontAlgn="base" hangingPunct="1">
        <a:spcBef>
          <a:spcPts val="225"/>
        </a:spcBef>
        <a:spcAft>
          <a:spcPts val="225"/>
        </a:spcAft>
        <a:buClr>
          <a:schemeClr val="accent2"/>
        </a:buClr>
        <a:buSzPct val="70000"/>
        <a:buFont typeface="Wingdings" pitchFamily="2" charset="2"/>
        <a:buChar char="Ø"/>
        <a:defRPr sz="825" i="1" kern="1200">
          <a:solidFill>
            <a:schemeClr val="tx1"/>
          </a:solidFill>
          <a:latin typeface="+mn-lt"/>
          <a:ea typeface="+mn-ea"/>
          <a:cs typeface="+mn-cs"/>
        </a:defRPr>
      </a:lvl5pPr>
      <a:lvl6pPr marL="1234479" indent="-137165"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43" indent="-137165"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807" indent="-137165"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71" indent="-137165"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11" algn="l" rtl="0" eaLnBrk="1" latinLnBrk="0" hangingPunct="1">
        <a:defRPr kumimoji="0" kern="1200">
          <a:solidFill>
            <a:schemeClr val="tx1"/>
          </a:solidFill>
          <a:latin typeface="+mn-lt"/>
          <a:ea typeface="+mn-ea"/>
          <a:cs typeface="+mn-cs"/>
        </a:defRPr>
      </a:lvl2pPr>
      <a:lvl3pPr marL="685821" algn="l" rtl="0" eaLnBrk="1" latinLnBrk="0" hangingPunct="1">
        <a:defRPr kumimoji="0" kern="1200">
          <a:solidFill>
            <a:schemeClr val="tx1"/>
          </a:solidFill>
          <a:latin typeface="+mn-lt"/>
          <a:ea typeface="+mn-ea"/>
          <a:cs typeface="+mn-cs"/>
        </a:defRPr>
      </a:lvl3pPr>
      <a:lvl4pPr marL="1028732" algn="l" rtl="0" eaLnBrk="1" latinLnBrk="0" hangingPunct="1">
        <a:defRPr kumimoji="0" kern="1200">
          <a:solidFill>
            <a:schemeClr val="tx1"/>
          </a:solidFill>
          <a:latin typeface="+mn-lt"/>
          <a:ea typeface="+mn-ea"/>
          <a:cs typeface="+mn-cs"/>
        </a:defRPr>
      </a:lvl4pPr>
      <a:lvl5pPr marL="1371643" algn="l" rtl="0" eaLnBrk="1" latinLnBrk="0" hangingPunct="1">
        <a:defRPr kumimoji="0" kern="1200">
          <a:solidFill>
            <a:schemeClr val="tx1"/>
          </a:solidFill>
          <a:latin typeface="+mn-lt"/>
          <a:ea typeface="+mn-ea"/>
          <a:cs typeface="+mn-cs"/>
        </a:defRPr>
      </a:lvl5pPr>
      <a:lvl6pPr marL="1714553" algn="l" rtl="0" eaLnBrk="1" latinLnBrk="0" hangingPunct="1">
        <a:defRPr kumimoji="0" kern="1200">
          <a:solidFill>
            <a:schemeClr val="tx1"/>
          </a:solidFill>
          <a:latin typeface="+mn-lt"/>
          <a:ea typeface="+mn-ea"/>
          <a:cs typeface="+mn-cs"/>
        </a:defRPr>
      </a:lvl6pPr>
      <a:lvl7pPr marL="2057464" algn="l" rtl="0" eaLnBrk="1" latinLnBrk="0" hangingPunct="1">
        <a:defRPr kumimoji="0" kern="1200">
          <a:solidFill>
            <a:schemeClr val="tx1"/>
          </a:solidFill>
          <a:latin typeface="+mn-lt"/>
          <a:ea typeface="+mn-ea"/>
          <a:cs typeface="+mn-cs"/>
        </a:defRPr>
      </a:lvl7pPr>
      <a:lvl8pPr marL="2400375" algn="l" rtl="0" eaLnBrk="1" latinLnBrk="0" hangingPunct="1">
        <a:defRPr kumimoji="0" kern="1200">
          <a:solidFill>
            <a:schemeClr val="tx1"/>
          </a:solidFill>
          <a:latin typeface="+mn-lt"/>
          <a:ea typeface="+mn-ea"/>
          <a:cs typeface="+mn-cs"/>
        </a:defRPr>
      </a:lvl8pPr>
      <a:lvl9pPr marL="2743286"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chart" Target="../charts/chart1.xml"/><Relationship Id="rId6" Type="http://schemas.openxmlformats.org/officeDocument/2006/relationships/chart" Target="../charts/char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BDE1C34-4C1F-0F76-7914-30AE355BAF2F}"/>
              </a:ext>
            </a:extLst>
          </p:cNvPr>
          <p:cNvSpPr>
            <a:spLocks noGrp="1"/>
          </p:cNvSpPr>
          <p:nvPr>
            <p:ph type="title"/>
          </p:nvPr>
        </p:nvSpPr>
        <p:spPr/>
        <p:txBody>
          <a:bodyPr/>
          <a:lstStyle/>
          <a:p>
            <a:r>
              <a:rPr lang="en-GB" sz="1800" dirty="0">
                <a:latin typeface="Arial" panose="020B0604020202020204" pitchFamily="34" charset="0"/>
                <a:cs typeface="Arial" panose="020B0604020202020204" pitchFamily="34" charset="0"/>
              </a:rPr>
              <a:t>Nintendo | </a:t>
            </a:r>
            <a:r>
              <a:rPr lang="en-GB" sz="1800" b="0" dirty="0">
                <a:latin typeface="Arial" panose="020B0604020202020204" pitchFamily="34" charset="0"/>
                <a:cs typeface="Arial" panose="020B0604020202020204" pitchFamily="34" charset="0"/>
              </a:rPr>
              <a:t>Company profile</a:t>
            </a:r>
            <a:endParaRPr lang="en-US" sz="1800" dirty="0"/>
          </a:p>
        </p:txBody>
      </p:sp>
      <p:sp>
        <p:nvSpPr>
          <p:cNvPr id="4" name="TextBox 3">
            <a:extLst>
              <a:ext uri="{FF2B5EF4-FFF2-40B4-BE49-F238E27FC236}">
                <a16:creationId xmlns:a16="http://schemas.microsoft.com/office/drawing/2014/main" id="{0AAE8A2C-7C01-0299-C59D-F0B18C1A880F}"/>
              </a:ext>
            </a:extLst>
          </p:cNvPr>
          <p:cNvSpPr txBox="1"/>
          <p:nvPr/>
        </p:nvSpPr>
        <p:spPr>
          <a:xfrm>
            <a:off x="4613910" y="925832"/>
            <a:ext cx="2446020" cy="307777"/>
          </a:xfrm>
          <a:prstGeom prst="rect">
            <a:avLst/>
          </a:prstGeom>
          <a:noFill/>
        </p:spPr>
        <p:txBody>
          <a:bodyPr wrap="square" rtlCol="0">
            <a:spAutoFit/>
          </a:bodyPr>
          <a:lstStyle/>
          <a:p>
            <a:r>
              <a:rPr lang="en-US" sz="1400" b="1" dirty="0"/>
              <a:t>Overview</a:t>
            </a:r>
          </a:p>
        </p:txBody>
      </p:sp>
      <p:sp>
        <p:nvSpPr>
          <p:cNvPr id="5" name="TextBox 4">
            <a:extLst>
              <a:ext uri="{FF2B5EF4-FFF2-40B4-BE49-F238E27FC236}">
                <a16:creationId xmlns:a16="http://schemas.microsoft.com/office/drawing/2014/main" id="{7B885E75-DEB6-8E25-245E-F80DE68A9890}"/>
              </a:ext>
            </a:extLst>
          </p:cNvPr>
          <p:cNvSpPr txBox="1"/>
          <p:nvPr/>
        </p:nvSpPr>
        <p:spPr>
          <a:xfrm>
            <a:off x="4572000" y="3028335"/>
            <a:ext cx="2446020" cy="307777"/>
          </a:xfrm>
          <a:prstGeom prst="rect">
            <a:avLst/>
          </a:prstGeom>
          <a:noFill/>
        </p:spPr>
        <p:txBody>
          <a:bodyPr wrap="square" rtlCol="0">
            <a:spAutoFit/>
          </a:bodyPr>
          <a:lstStyle/>
          <a:p>
            <a:r>
              <a:rPr lang="en-US" sz="1400" b="1" dirty="0"/>
              <a:t>Strategic Rationale</a:t>
            </a:r>
          </a:p>
        </p:txBody>
      </p:sp>
      <p:sp>
        <p:nvSpPr>
          <p:cNvPr id="7" name="TextBox 6">
            <a:extLst>
              <a:ext uri="{FF2B5EF4-FFF2-40B4-BE49-F238E27FC236}">
                <a16:creationId xmlns:a16="http://schemas.microsoft.com/office/drawing/2014/main" id="{D71EE2EE-5101-F088-255A-AE19C8FD8516}"/>
              </a:ext>
            </a:extLst>
          </p:cNvPr>
          <p:cNvSpPr txBox="1"/>
          <p:nvPr/>
        </p:nvSpPr>
        <p:spPr>
          <a:xfrm>
            <a:off x="4572000" y="3306049"/>
            <a:ext cx="4267199" cy="1169551"/>
          </a:xfrm>
          <a:prstGeom prst="rect">
            <a:avLst/>
          </a:prstGeom>
          <a:noFill/>
        </p:spPr>
        <p:txBody>
          <a:bodyPr wrap="square">
            <a:spAutoFit/>
          </a:bodyPr>
          <a:lstStyle/>
          <a:p>
            <a:pPr marL="285750" indent="-285750">
              <a:buFont typeface="Arial" panose="020B0604020202020204" pitchFamily="34" charset="0"/>
              <a:buChar char="•"/>
            </a:pPr>
            <a:r>
              <a:rPr lang="en-US" sz="1000" b="1" dirty="0"/>
              <a:t>Strengthen Gaming Capabilities </a:t>
            </a:r>
            <a:r>
              <a:rPr lang="en-US" sz="1000" dirty="0"/>
              <a:t>– </a:t>
            </a:r>
            <a:r>
              <a:rPr lang="en-US" sz="1000" dirty="0" err="1"/>
              <a:t>Webflix</a:t>
            </a:r>
            <a:r>
              <a:rPr lang="en-US" sz="1000" dirty="0"/>
              <a:t> would be able to immediately accelerate its internal video game content capabilities, allowing it to create stronger, “stickier” relationships with its existing customer base while also serving to expand the size of its total addressable market </a:t>
            </a:r>
          </a:p>
          <a:p>
            <a:pPr marL="285750" indent="-285750">
              <a:buFont typeface="Arial" panose="020B0604020202020204" pitchFamily="34" charset="0"/>
              <a:buChar char="•"/>
            </a:pPr>
            <a:r>
              <a:rPr lang="en-US" sz="1000" b="1" dirty="0"/>
              <a:t>Deepen Penetration in APAC Region</a:t>
            </a:r>
            <a:r>
              <a:rPr lang="en-US" sz="1000" dirty="0"/>
              <a:t>– By acquiring Nintendo, </a:t>
            </a:r>
            <a:r>
              <a:rPr lang="en-US" sz="1000" dirty="0" err="1"/>
              <a:t>Webflix</a:t>
            </a:r>
            <a:r>
              <a:rPr lang="en-US" sz="1000" dirty="0"/>
              <a:t> would be able to bolster its market penetration in the key Asia-Pacific region, for which it generated </a:t>
            </a:r>
          </a:p>
        </p:txBody>
      </p:sp>
      <p:pic>
        <p:nvPicPr>
          <p:cNvPr id="9" name="Picture 8">
            <a:extLst>
              <a:ext uri="{FF2B5EF4-FFF2-40B4-BE49-F238E27FC236}">
                <a16:creationId xmlns:a16="http://schemas.microsoft.com/office/drawing/2014/main" id="{133BE52A-6B65-914A-345C-2C5E926194DC}"/>
              </a:ext>
            </a:extLst>
          </p:cNvPr>
          <p:cNvPicPr>
            <a:picLocks noChangeAspect="1"/>
          </p:cNvPicPr>
          <p:nvPr/>
        </p:nvPicPr>
        <p:blipFill>
          <a:blip r:embed="rId3"/>
          <a:stretch>
            <a:fillRect/>
          </a:stretch>
        </p:blipFill>
        <p:spPr>
          <a:xfrm>
            <a:off x="304801" y="781585"/>
            <a:ext cx="1663700" cy="520700"/>
          </a:xfrm>
          <a:prstGeom prst="rect">
            <a:avLst/>
          </a:prstGeom>
        </p:spPr>
      </p:pic>
      <p:graphicFrame>
        <p:nvGraphicFramePr>
          <p:cNvPr id="11" name="Table 11">
            <a:extLst>
              <a:ext uri="{FF2B5EF4-FFF2-40B4-BE49-F238E27FC236}">
                <a16:creationId xmlns:a16="http://schemas.microsoft.com/office/drawing/2014/main" id="{319C28B4-E1FD-97CB-D3FF-40AB71F73489}"/>
              </a:ext>
            </a:extLst>
          </p:cNvPr>
          <p:cNvGraphicFramePr>
            <a:graphicFrameLocks noGrp="1"/>
          </p:cNvGraphicFramePr>
          <p:nvPr>
            <p:extLst>
              <p:ext uri="{D42A27DB-BD31-4B8C-83A1-F6EECF244321}">
                <p14:modId xmlns:p14="http://schemas.microsoft.com/office/powerpoint/2010/main" val="156980632"/>
              </p:ext>
            </p:extLst>
          </p:nvPr>
        </p:nvGraphicFramePr>
        <p:xfrm>
          <a:off x="304801" y="1303656"/>
          <a:ext cx="1946910" cy="1112520"/>
        </p:xfrm>
        <a:graphic>
          <a:graphicData uri="http://schemas.openxmlformats.org/drawingml/2006/table">
            <a:tbl>
              <a:tblPr firstRow="1" bandRow="1">
                <a:tableStyleId>{073A0DAA-6AF3-43AB-8588-CEC1D06C72B9}</a:tableStyleId>
              </a:tblPr>
              <a:tblGrid>
                <a:gridCol w="973455">
                  <a:extLst>
                    <a:ext uri="{9D8B030D-6E8A-4147-A177-3AD203B41FA5}">
                      <a16:colId xmlns:a16="http://schemas.microsoft.com/office/drawing/2014/main" val="4126971592"/>
                    </a:ext>
                  </a:extLst>
                </a:gridCol>
                <a:gridCol w="973455">
                  <a:extLst>
                    <a:ext uri="{9D8B030D-6E8A-4147-A177-3AD203B41FA5}">
                      <a16:colId xmlns:a16="http://schemas.microsoft.com/office/drawing/2014/main" val="1071492639"/>
                    </a:ext>
                  </a:extLst>
                </a:gridCol>
              </a:tblGrid>
              <a:tr h="370840">
                <a:tc>
                  <a:txBody>
                    <a:bodyPr/>
                    <a:lstStyle/>
                    <a:p>
                      <a:r>
                        <a:rPr lang="en-US" sz="1200" dirty="0">
                          <a:solidFill>
                            <a:schemeClr val="tx1"/>
                          </a:solidFill>
                        </a:rPr>
                        <a:t>Revenue</a:t>
                      </a:r>
                    </a:p>
                  </a:txBody>
                  <a:tcPr>
                    <a:noFill/>
                  </a:tcPr>
                </a:tc>
                <a:tc>
                  <a:txBody>
                    <a:bodyPr/>
                    <a:lstStyle/>
                    <a:p>
                      <a:pPr algn="r"/>
                      <a:r>
                        <a:rPr sz="1200" b="0">
                          <a:solidFill>
                            <a:srgbClr val="000000"/>
                          </a:solidFill>
                        </a:rPr>
                        <a:t>$14.2B</a:t>
                      </a:r>
                    </a:p>
                  </a:txBody>
                  <a:tcPr>
                    <a:noFill/>
                  </a:tcPr>
                </a:tc>
                <a:extLst>
                  <a:ext uri="{0D108BD9-81ED-4DB2-BD59-A6C34878D82A}">
                    <a16:rowId xmlns:a16="http://schemas.microsoft.com/office/drawing/2014/main" val="1945779635"/>
                  </a:ext>
                </a:extLst>
              </a:tr>
              <a:tr h="370840">
                <a:tc>
                  <a:txBody>
                    <a:bodyPr/>
                    <a:lstStyle/>
                    <a:p>
                      <a:r>
                        <a:rPr lang="en-US" sz="1200" b="1" dirty="0">
                          <a:solidFill>
                            <a:schemeClr val="tx1"/>
                          </a:solidFill>
                        </a:rPr>
                        <a:t>EBITDA</a:t>
                      </a:r>
                    </a:p>
                  </a:txBody>
                  <a:tcPr>
                    <a:noFill/>
                  </a:tcPr>
                </a:tc>
                <a:tc>
                  <a:txBody>
                    <a:bodyPr/>
                    <a:lstStyle/>
                    <a:p>
                      <a:r>
                        <a:rPr sz="1200" b="1">
                          <a:solidFill>
                            <a:srgbClr val="000000"/>
                          </a:solidFill>
                        </a:rPr>
                        <a:t>$5.3B</a:t>
                      </a:r>
                      <a:endParaRPr lang="en-US" sz="1200">
                        <a:solidFill>
                          <a:schemeClr val="tx1"/>
                        </a:solidFill>
                      </a:endParaRPr>
                    </a:p>
                  </a:txBody>
                  <a:tcPr>
                    <a:noFill/>
                  </a:tcPr>
                </a:tc>
                <a:extLst>
                  <a:ext uri="{0D108BD9-81ED-4DB2-BD59-A6C34878D82A}">
                    <a16:rowId xmlns:a16="http://schemas.microsoft.com/office/drawing/2014/main" val="394691834"/>
                  </a:ext>
                </a:extLst>
              </a:tr>
              <a:tr h="370840">
                <a:tc>
                  <a:txBody>
                    <a:bodyPr/>
                    <a:lstStyle/>
                    <a:p>
                      <a:r>
                        <a:rPr lang="en-US" sz="1200" b="1" dirty="0">
                          <a:solidFill>
                            <a:schemeClr val="tx1"/>
                          </a:solidFill>
                        </a:rPr>
                        <a:t>Equity Value</a:t>
                      </a:r>
                    </a:p>
                  </a:txBody>
                  <a:tcPr>
                    <a:noFill/>
                  </a:tcPr>
                </a:tc>
                <a:tc>
                  <a:txBody>
                    <a:bodyPr/>
                    <a:lstStyle/>
                    <a:p>
                      <a:r>
                        <a:rPr sz="1200" b="1">
                          <a:solidFill>
                            <a:srgbClr val="000000"/>
                          </a:solidFill>
                        </a:rPr>
                        <a:t>$78.7B</a:t>
                      </a:r>
                      <a:endParaRPr lang="en-US" sz="1200" dirty="0">
                        <a:solidFill>
                          <a:schemeClr val="tx1"/>
                        </a:solidFill>
                      </a:endParaRPr>
                    </a:p>
                  </a:txBody>
                  <a:tcPr>
                    <a:noFill/>
                  </a:tcPr>
                </a:tc>
                <a:extLst>
                  <a:ext uri="{0D108BD9-81ED-4DB2-BD59-A6C34878D82A}">
                    <a16:rowId xmlns:a16="http://schemas.microsoft.com/office/drawing/2014/main" val="1556103973"/>
                  </a:ext>
                </a:extLst>
              </a:tr>
            </a:tbl>
          </a:graphicData>
        </a:graphic>
      </p:graphicFrame>
      <p:graphicFrame>
        <p:nvGraphicFramePr>
          <p:cNvPr id="12" name="Table 11">
            <a:extLst>
              <a:ext uri="{FF2B5EF4-FFF2-40B4-BE49-F238E27FC236}">
                <a16:creationId xmlns:a16="http://schemas.microsoft.com/office/drawing/2014/main" id="{29D97120-9296-57A9-F615-A784D206615B}"/>
              </a:ext>
            </a:extLst>
          </p:cNvPr>
          <p:cNvGraphicFramePr>
            <a:graphicFrameLocks noGrp="1"/>
          </p:cNvGraphicFramePr>
          <p:nvPr>
            <p:extLst>
              <p:ext uri="{D42A27DB-BD31-4B8C-83A1-F6EECF244321}">
                <p14:modId xmlns:p14="http://schemas.microsoft.com/office/powerpoint/2010/main" val="1384754662"/>
              </p:ext>
            </p:extLst>
          </p:nvPr>
        </p:nvGraphicFramePr>
        <p:xfrm>
          <a:off x="2438400" y="932816"/>
          <a:ext cx="2175510" cy="1483360"/>
        </p:xfrm>
        <a:graphic>
          <a:graphicData uri="http://schemas.openxmlformats.org/drawingml/2006/table">
            <a:tbl>
              <a:tblPr firstRow="1" bandRow="1">
                <a:tableStyleId>{073A0DAA-6AF3-43AB-8588-CEC1D06C72B9}</a:tableStyleId>
              </a:tblPr>
              <a:tblGrid>
                <a:gridCol w="1087755">
                  <a:extLst>
                    <a:ext uri="{9D8B030D-6E8A-4147-A177-3AD203B41FA5}">
                      <a16:colId xmlns:a16="http://schemas.microsoft.com/office/drawing/2014/main" val="4126971592"/>
                    </a:ext>
                  </a:extLst>
                </a:gridCol>
                <a:gridCol w="1087755">
                  <a:extLst>
                    <a:ext uri="{9D8B030D-6E8A-4147-A177-3AD203B41FA5}">
                      <a16:colId xmlns:a16="http://schemas.microsoft.com/office/drawing/2014/main" val="1071492639"/>
                    </a:ext>
                  </a:extLst>
                </a:gridCol>
              </a:tblGrid>
              <a:tr h="370840">
                <a:tc>
                  <a:txBody>
                    <a:bodyPr/>
                    <a:lstStyle/>
                    <a:p>
                      <a:r>
                        <a:rPr lang="en-US" sz="1200" dirty="0">
                          <a:solidFill>
                            <a:schemeClr val="tx1"/>
                          </a:solidFill>
                        </a:rPr>
                        <a:t>Headquarters</a:t>
                      </a:r>
                    </a:p>
                  </a:txBody>
                  <a:tcPr>
                    <a:noFill/>
                  </a:tcPr>
                </a:tc>
                <a:tc>
                  <a:txBody>
                    <a:bodyPr/>
                    <a:lstStyle/>
                    <a:p>
                      <a:pPr algn="r"/>
                      <a:r>
                        <a:rPr sz="1100" b="0">
                          <a:solidFill>
                            <a:srgbClr val="000000"/>
                          </a:solidFill>
                        </a:rPr>
                        <a:t>Kyoto, Japan</a:t>
                      </a:r>
                      <a:endParaRPr lang="en-US" sz="1200" dirty="0">
                        <a:solidFill>
                          <a:schemeClr val="tx1"/>
                        </a:solidFill>
                      </a:endParaRPr>
                    </a:p>
                  </a:txBody>
                  <a:tcPr>
                    <a:noFill/>
                  </a:tcPr>
                </a:tc>
                <a:extLst>
                  <a:ext uri="{0D108BD9-81ED-4DB2-BD59-A6C34878D82A}">
                    <a16:rowId xmlns:a16="http://schemas.microsoft.com/office/drawing/2014/main" val="4202442930"/>
                  </a:ext>
                </a:extLst>
              </a:tr>
              <a:tr h="370840">
                <a:tc>
                  <a:txBody>
                    <a:bodyPr/>
                    <a:lstStyle/>
                    <a:p>
                      <a:r>
                        <a:rPr lang="en-US" sz="1200" b="1" dirty="0">
                          <a:solidFill>
                            <a:schemeClr val="tx1"/>
                          </a:solidFill>
                        </a:rPr>
                        <a:t>Founded</a:t>
                      </a:r>
                    </a:p>
                  </a:txBody>
                  <a:tcPr>
                    <a:noFill/>
                  </a:tcPr>
                </a:tc>
                <a:tc>
                  <a:txBody>
                    <a:bodyPr/>
                    <a:lstStyle/>
                    <a:p>
                      <a:pPr algn="r"/>
                      <a:r>
                        <a:rPr sz="1050" b="1">
                          <a:solidFill>
                            <a:srgbClr val="000000"/>
                          </a:solidFill>
                        </a:rPr>
                        <a:t>November 1947</a:t>
                      </a:r>
                      <a:endParaRPr lang="en-US" sz="1200" dirty="0">
                        <a:solidFill>
                          <a:schemeClr val="tx1"/>
                        </a:solidFill>
                      </a:endParaRPr>
                    </a:p>
                  </a:txBody>
                  <a:tcPr>
                    <a:noFill/>
                  </a:tcPr>
                </a:tc>
                <a:extLst>
                  <a:ext uri="{0D108BD9-81ED-4DB2-BD59-A6C34878D82A}">
                    <a16:rowId xmlns:a16="http://schemas.microsoft.com/office/drawing/2014/main" val="1945779635"/>
                  </a:ext>
                </a:extLst>
              </a:tr>
              <a:tr h="370840">
                <a:tc>
                  <a:txBody>
                    <a:bodyPr/>
                    <a:lstStyle/>
                    <a:p>
                      <a:r>
                        <a:rPr lang="en-US" sz="1200" b="1" dirty="0">
                          <a:solidFill>
                            <a:schemeClr val="tx1"/>
                          </a:solidFill>
                        </a:rPr>
                        <a:t># Employees</a:t>
                      </a:r>
                    </a:p>
                  </a:txBody>
                  <a:tcPr>
                    <a:noFill/>
                  </a:tcPr>
                </a:tc>
                <a:tc>
                  <a:txBody>
                    <a:bodyPr/>
                    <a:lstStyle/>
                    <a:p>
                      <a:r>
                        <a:rPr sz="1100" b="1">
                          <a:solidFill>
                            <a:srgbClr val="000000"/>
                          </a:solidFill>
                        </a:rPr>
                        <a:t>6,574</a:t>
                      </a:r>
                      <a:endParaRPr lang="en-US" sz="1200" dirty="0">
                        <a:solidFill>
                          <a:schemeClr val="tx1"/>
                        </a:solidFill>
                      </a:endParaRPr>
                    </a:p>
                  </a:txBody>
                  <a:tcPr>
                    <a:noFill/>
                  </a:tcPr>
                </a:tc>
                <a:extLst>
                  <a:ext uri="{0D108BD9-81ED-4DB2-BD59-A6C34878D82A}">
                    <a16:rowId xmlns:a16="http://schemas.microsoft.com/office/drawing/2014/main" val="394691834"/>
                  </a:ext>
                </a:extLst>
              </a:tr>
              <a:tr h="370840">
                <a:tc>
                  <a:txBody>
                    <a:bodyPr/>
                    <a:lstStyle/>
                    <a:p>
                      <a:r>
                        <a:rPr lang="en-US" sz="1200" b="1" dirty="0">
                          <a:solidFill>
                            <a:schemeClr val="tx1"/>
                          </a:solidFill>
                        </a:rPr>
                        <a:t>President</a:t>
                      </a:r>
                    </a:p>
                  </a:txBody>
                  <a:tcPr>
                    <a:noFill/>
                  </a:tcPr>
                </a:tc>
                <a:tc>
                  <a:txBody>
                    <a:bodyPr/>
                    <a:lstStyle/>
                    <a:p>
                      <a:r>
                        <a:rPr sz="1000" b="1">
                          <a:solidFill>
                            <a:srgbClr val="000000"/>
                          </a:solidFill>
                        </a:rPr>
                        <a:t>Shuntaro Furukawa</a:t>
                      </a:r>
                      <a:endParaRPr lang="en-US" sz="1200" dirty="0">
                        <a:solidFill>
                          <a:schemeClr val="tx1"/>
                        </a:solidFill>
                      </a:endParaRPr>
                    </a:p>
                  </a:txBody>
                  <a:tcPr>
                    <a:noFill/>
                  </a:tcPr>
                </a:tc>
                <a:extLst>
                  <a:ext uri="{0D108BD9-81ED-4DB2-BD59-A6C34878D82A}">
                    <a16:rowId xmlns:a16="http://schemas.microsoft.com/office/drawing/2014/main" val="1556103973"/>
                  </a:ext>
                </a:extLst>
              </a:tr>
            </a:tbl>
          </a:graphicData>
        </a:graphic>
      </p:graphicFrame>
      <p:pic>
        <p:nvPicPr>
          <p:cNvPr id="14" name="Picture 13">
            <a:extLst>
              <a:ext uri="{FF2B5EF4-FFF2-40B4-BE49-F238E27FC236}">
                <a16:creationId xmlns:a16="http://schemas.microsoft.com/office/drawing/2014/main" id="{9EC4D4BE-A9EF-77F7-8C77-09D0B4105616}"/>
              </a:ext>
            </a:extLst>
          </p:cNvPr>
          <p:cNvPicPr>
            <a:picLocks noChangeAspect="1"/>
          </p:cNvPicPr>
          <p:nvPr/>
        </p:nvPicPr>
        <p:blipFill>
          <a:blip r:embed="rId4"/>
          <a:stretch>
            <a:fillRect/>
          </a:stretch>
        </p:blipFill>
        <p:spPr>
          <a:xfrm>
            <a:off x="4873595" y="5199192"/>
            <a:ext cx="4007514" cy="1465952"/>
          </a:xfrm>
          <a:prstGeom prst="rect">
            <a:avLst/>
          </a:prstGeom>
        </p:spPr>
      </p:pic>
      <p:sp>
        <p:nvSpPr>
          <p:cNvPr id="20" name="Rectangle 19">
            <a:extLst>
              <a:ext uri="{FF2B5EF4-FFF2-40B4-BE49-F238E27FC236}">
                <a16:creationId xmlns:a16="http://schemas.microsoft.com/office/drawing/2014/main" id="{82DEE157-CC37-EE6B-FA58-D6DF06E2D469}"/>
              </a:ext>
            </a:extLst>
          </p:cNvPr>
          <p:cNvSpPr/>
          <p:nvPr/>
        </p:nvSpPr>
        <p:spPr bwMode="auto">
          <a:xfrm>
            <a:off x="4663440" y="1245980"/>
            <a:ext cx="4175759" cy="1761796"/>
          </a:xfrm>
          <a:prstGeom prst="rect">
            <a:avLst/>
          </a:prstGeom>
          <a:effectLst/>
          <a:noFill/>
        </p:spPr>
        <p:txBody>
          <a:bodyPr rtlCol="0" anchor="t"/>
          <a:lstStyle/>
          <a:p>
            <a:pPr marL="171450" indent="-171450">
              <a:lnSpc>
                <a:spcPct val="92000"/>
              </a:lnSpc>
              <a:spcAft>
                <a:spcPts val="400"/>
              </a:spcAft>
              <a:buFont typeface="Arial" panose="020B0604020202020204" pitchFamily="34" charset="0"/>
              <a:buChar char="•"/>
            </a:pPr>
            <a:r>
              <a:rPr lang="en-US" sz="900" dirty="0"/>
              <a:t>Designs, manufactures, and distributes home console and handheld video game hardware and software worldwide.</a:t>
            </a:r>
          </a:p>
          <a:p>
            <a:pPr marL="171450" indent="-171450">
              <a:lnSpc>
                <a:spcPct val="92000"/>
              </a:lnSpc>
              <a:spcAft>
                <a:spcPts val="400"/>
              </a:spcAft>
              <a:buFont typeface="Arial" panose="020B0604020202020204" pitchFamily="34" charset="0"/>
              <a:buChar char="•"/>
            </a:pPr>
            <a:r>
              <a:rPr lang="en-US" sz="900" dirty="0"/>
              <a:t>Holds a leading position in the global video game industry, led by the Nintendo Switch platform and its first-party franchises.</a:t>
            </a:r>
          </a:p>
          <a:p>
            <a:pPr marL="171450" indent="-171450">
              <a:lnSpc>
                <a:spcPct val="92000"/>
              </a:lnSpc>
              <a:spcAft>
                <a:spcPts val="400"/>
              </a:spcAft>
              <a:buFont typeface="Arial" panose="020B0604020202020204" pitchFamily="34" charset="0"/>
              <a:buChar char="•"/>
            </a:pPr>
            <a:r>
              <a:rPr lang="en-US" sz="900" dirty="0"/>
              <a:t>Key products include Nintendo Switch / Switch Lite hardware and franchise software such as Mario, Zelda, Pokémon, and Animal Crossing.</a:t>
            </a:r>
          </a:p>
          <a:p>
            <a:pPr marL="171450" indent="-171450">
              <a:lnSpc>
                <a:spcPct val="92000"/>
              </a:lnSpc>
              <a:spcAft>
                <a:spcPts val="400"/>
              </a:spcAft>
              <a:buFont typeface="Arial" panose="020B0604020202020204" pitchFamily="34" charset="0"/>
              <a:buChar char="•"/>
            </a:pPr>
            <a:r>
              <a:rPr lang="en-US" sz="900" dirty="0"/>
              <a:t>Founded in 1947 as a Kyoto-based playing card maker; has built one of the most recognized brands in global entertainment.</a:t>
            </a:r>
          </a:p>
          <a:p>
            <a:pPr marL="171450" indent="-171450">
              <a:lnSpc>
                <a:spcPct val="92000"/>
              </a:lnSpc>
              <a:spcAft>
                <a:spcPts val="400"/>
              </a:spcAft>
              <a:buFont typeface="Arial" panose="020B0604020202020204" pitchFamily="34" charset="0"/>
              <a:buChar char="•"/>
            </a:pPr>
            <a:r>
              <a:rPr lang="en-US" sz="900" dirty="0"/>
              <a:t>Operates as a single global segment, distributing through regional subsidiaries including Nintendo of America and Nintendo of Europe.</a:t>
            </a:r>
          </a:p>
        </p:txBody>
      </p:sp>
      <p:sp>
        <p:nvSpPr>
          <p:cNvPr id="2" name="TextBox 1">
            <a:extLst>
              <a:ext uri="{FF2B5EF4-FFF2-40B4-BE49-F238E27FC236}">
                <a16:creationId xmlns:a16="http://schemas.microsoft.com/office/drawing/2014/main" id="{77E3F1CC-0056-98CD-E499-B312278C13E0}"/>
              </a:ext>
            </a:extLst>
          </p:cNvPr>
          <p:cNvSpPr txBox="1"/>
          <p:nvPr/>
        </p:nvSpPr>
        <p:spPr>
          <a:xfrm>
            <a:off x="304801" y="2493914"/>
            <a:ext cx="4118609" cy="338554"/>
          </a:xfrm>
          <a:prstGeom prst="rect">
            <a:avLst/>
          </a:prstGeom>
          <a:solidFill>
            <a:srgbClr val="002060"/>
          </a:solidFill>
        </p:spPr>
        <p:txBody>
          <a:bodyPr wrap="square" rtlCol="0">
            <a:spAutoFit/>
          </a:bodyPr>
          <a:lstStyle/>
          <a:p>
            <a:pPr algn="ctr"/>
            <a:r>
              <a:rPr lang="en-US" sz="1600" dirty="0">
                <a:solidFill>
                  <a:schemeClr val="bg1"/>
                </a:solidFill>
              </a:rPr>
              <a:t>Historical Financials ($ in Billions)</a:t>
            </a:r>
          </a:p>
        </p:txBody>
      </p:sp>
      <p:sp>
        <p:nvSpPr>
          <p:cNvPr id="3" name="TextBox 2">
            <a:extLst>
              <a:ext uri="{FF2B5EF4-FFF2-40B4-BE49-F238E27FC236}">
                <a16:creationId xmlns:a16="http://schemas.microsoft.com/office/drawing/2014/main" id="{D2D9565D-A196-B418-73D6-80CE21F3A654}"/>
              </a:ext>
            </a:extLst>
          </p:cNvPr>
          <p:cNvSpPr txBox="1"/>
          <p:nvPr/>
        </p:nvSpPr>
        <p:spPr>
          <a:xfrm>
            <a:off x="304800" y="4900683"/>
            <a:ext cx="4118609" cy="338554"/>
          </a:xfrm>
          <a:prstGeom prst="rect">
            <a:avLst/>
          </a:prstGeom>
          <a:solidFill>
            <a:srgbClr val="002060"/>
          </a:solidFill>
        </p:spPr>
        <p:txBody>
          <a:bodyPr wrap="square" rtlCol="0">
            <a:spAutoFit/>
          </a:bodyPr>
          <a:lstStyle/>
          <a:p>
            <a:pPr algn="ctr"/>
            <a:r>
              <a:rPr lang="en-US" sz="1600" dirty="0">
                <a:solidFill>
                  <a:schemeClr val="bg1"/>
                </a:solidFill>
              </a:rPr>
              <a:t>Revenue by Geography</a:t>
            </a:r>
          </a:p>
        </p:txBody>
      </p:sp>
      <p:sp>
        <p:nvSpPr>
          <p:cNvPr id="6" name="TextBox 5">
            <a:extLst>
              <a:ext uri="{FF2B5EF4-FFF2-40B4-BE49-F238E27FC236}">
                <a16:creationId xmlns:a16="http://schemas.microsoft.com/office/drawing/2014/main" id="{60CF8688-1049-0EF2-07AE-4315515BFCB8}"/>
              </a:ext>
            </a:extLst>
          </p:cNvPr>
          <p:cNvSpPr txBox="1"/>
          <p:nvPr/>
        </p:nvSpPr>
        <p:spPr>
          <a:xfrm>
            <a:off x="4655819" y="4900683"/>
            <a:ext cx="4225290" cy="338554"/>
          </a:xfrm>
          <a:prstGeom prst="rect">
            <a:avLst/>
          </a:prstGeom>
          <a:solidFill>
            <a:srgbClr val="002060"/>
          </a:solidFill>
        </p:spPr>
        <p:txBody>
          <a:bodyPr wrap="square" rtlCol="0">
            <a:spAutoFit/>
          </a:bodyPr>
          <a:lstStyle/>
          <a:p>
            <a:pPr algn="ctr"/>
            <a:r>
              <a:rPr lang="en-US" sz="1600" dirty="0">
                <a:solidFill>
                  <a:schemeClr val="bg1"/>
                </a:solidFill>
              </a:rPr>
              <a:t>Representative Franchise Assets</a:t>
            </a:r>
          </a:p>
        </p:txBody>
      </p:sp>
      <p:graphicFrame>
        <p:nvGraphicFramePr>
          <p:cNvPr id="21" name="Chart 20"/>
          <p:cNvGraphicFramePr>
            <a:graphicFrameLocks noGrp="1"/>
          </p:cNvGraphicFramePr>
          <p:nvPr/>
        </p:nvGraphicFramePr>
        <p:xfrm>
          <a:off x="203200" y="3012219"/>
          <a:ext cx="4175759" cy="1549146"/>
        </p:xfrm>
        <a:graphic>
          <a:graphicData uri="http://schemas.openxmlformats.org/drawingml/2006/chart">
            <c:chart xmlns:c="http://schemas.openxmlformats.org/drawingml/2006/chart" r:id="rId5"/>
          </a:graphicData>
        </a:graphic>
      </p:graphicFrame>
      <p:graphicFrame>
        <p:nvGraphicFramePr>
          <p:cNvPr id="22" name="Chart 21"/>
          <p:cNvGraphicFramePr>
            <a:graphicFrameLocks noGrp="1"/>
          </p:cNvGraphicFramePr>
          <p:nvPr/>
        </p:nvGraphicFramePr>
        <p:xfrm>
          <a:off x="262891" y="5436526"/>
          <a:ext cx="4175759" cy="1116706"/>
        </p:xfrm>
        <a:graphic>
          <a:graphicData uri="http://schemas.openxmlformats.org/drawingml/2006/chart">
            <c:chart xmlns:c="http://schemas.openxmlformats.org/drawingml/2006/chart" r:id="rId6"/>
          </a:graphicData>
        </a:graphic>
      </p:graphicFrame>
    </p:spTree>
    <p:extLst>
      <p:ext uri="{BB962C8B-B14F-4D97-AF65-F5344CB8AC3E}">
        <p14:creationId xmlns:p14="http://schemas.microsoft.com/office/powerpoint/2010/main" val="2758548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533400"/>
          </a:xfrm>
        </p:spPr>
        <p:txBody>
          <a:bodyPr/>
          <a:lstStyle/>
          <a:p>
            <a:r>
              <a:rPr lang="en-US" sz="1800" b="1" dirty="0">
                <a:latin typeface="Arial" panose="020B0604020202020204" pitchFamily="34" charset="0"/>
                <a:cs typeface="Arial" panose="020B0604020202020204" pitchFamily="34" charset="0"/>
              </a:rPr>
              <a:t>Nintendo</a:t>
            </a:r>
            <a:r>
              <a:rPr lang="en-US" sz="1800" dirty="0">
                <a:latin typeface="Arial" panose="020B0604020202020204" pitchFamily="34" charset="0"/>
                <a:cs typeface="Arial" panose="020B0604020202020204" pitchFamily="34" charset="0"/>
              </a:rPr>
              <a:t> | </a:t>
            </a:r>
            <a:r>
              <a:rPr lang="en-US" sz="1800" b="0" dirty="0">
                <a:latin typeface="Arial" panose="020B0604020202020204" pitchFamily="34" charset="0"/>
                <a:cs typeface="Arial" panose="020B0604020202020204" pitchFamily="34" charset="0"/>
              </a:rPr>
              <a:t>Discounted Cash Flow Analysis</a:t>
            </a:r>
          </a:p>
        </p:txBody>
      </p:sp>
      <p:sp>
        <p:nvSpPr>
          <p:cNvPr id="3" name="Slide Number Placeholder 2"/>
          <p:cNvSpPr>
            <a:spLocks noGrp="1"/>
          </p:cNvSpPr>
          <p:nvPr>
            <p:ph type="sldNum" sz="quarter" idx="4"/>
          </p:nvPr>
        </p:nvSpPr>
        <p:spPr/>
        <p:txBody>
          <a:bodyPr/>
          <a:lstStyle/>
          <a:p>
            <a:fld id="{0E597324-71BB-4312-8794-C30754F659B3}" type="slidenum">
              <a:rPr lang="en-US" smtClean="0"/>
              <a:pPr/>
              <a:t>2</a:t>
            </a:fld>
            <a:endParaRPr lang="en-US" dirty="0"/>
          </a:p>
        </p:txBody>
      </p:sp>
      <p:sp>
        <p:nvSpPr>
          <p:cNvPr id="6" name="TextBox 5">
            <a:extLst>
              <a:ext uri="{FF2B5EF4-FFF2-40B4-BE49-F238E27FC236}">
                <a16:creationId xmlns:a16="http://schemas.microsoft.com/office/drawing/2014/main" id="{3953B1F8-2615-2026-1053-E17D560D78E7}"/>
              </a:ext>
            </a:extLst>
          </p:cNvPr>
          <p:cNvSpPr txBox="1"/>
          <p:nvPr/>
        </p:nvSpPr>
        <p:spPr>
          <a:xfrm>
            <a:off x="304801" y="4174123"/>
            <a:ext cx="4220467" cy="338554"/>
          </a:xfrm>
          <a:prstGeom prst="rect">
            <a:avLst/>
          </a:prstGeom>
          <a:solidFill>
            <a:srgbClr val="002060"/>
          </a:solidFill>
        </p:spPr>
        <p:txBody>
          <a:bodyPr wrap="square" rtlCol="0">
            <a:spAutoFit/>
          </a:bodyPr>
          <a:lstStyle/>
          <a:p>
            <a:pPr algn="ctr"/>
            <a:r>
              <a:rPr lang="en-US" sz="1600" dirty="0">
                <a:solidFill>
                  <a:schemeClr val="bg1"/>
                </a:solidFill>
              </a:rPr>
              <a:t>Enterprise Value</a:t>
            </a:r>
          </a:p>
        </p:txBody>
      </p:sp>
      <p:sp>
        <p:nvSpPr>
          <p:cNvPr id="7" name="TextBox 6">
            <a:extLst>
              <a:ext uri="{FF2B5EF4-FFF2-40B4-BE49-F238E27FC236}">
                <a16:creationId xmlns:a16="http://schemas.microsoft.com/office/drawing/2014/main" id="{2A7FC7F8-A1F0-ED44-2CA4-5AFD5E54CFB3}"/>
              </a:ext>
            </a:extLst>
          </p:cNvPr>
          <p:cNvSpPr txBox="1"/>
          <p:nvPr/>
        </p:nvSpPr>
        <p:spPr>
          <a:xfrm>
            <a:off x="4611758" y="4174123"/>
            <a:ext cx="4220467" cy="338554"/>
          </a:xfrm>
          <a:prstGeom prst="rect">
            <a:avLst/>
          </a:prstGeom>
          <a:solidFill>
            <a:srgbClr val="002060"/>
          </a:solidFill>
        </p:spPr>
        <p:txBody>
          <a:bodyPr wrap="square" rtlCol="0">
            <a:spAutoFit/>
          </a:bodyPr>
          <a:lstStyle/>
          <a:p>
            <a:pPr algn="ctr"/>
            <a:r>
              <a:rPr lang="en-US" sz="1600" dirty="0">
                <a:solidFill>
                  <a:schemeClr val="bg1"/>
                </a:solidFill>
              </a:rPr>
              <a:t>Implied Share Price</a:t>
            </a:r>
          </a:p>
        </p:txBody>
      </p:sp>
      <p:sp>
        <p:nvSpPr>
          <p:cNvPr id="8" name="TextBox 7">
            <a:extLst>
              <a:ext uri="{FF2B5EF4-FFF2-40B4-BE49-F238E27FC236}">
                <a16:creationId xmlns:a16="http://schemas.microsoft.com/office/drawing/2014/main" id="{56CFDA3E-41F8-9E93-B9DE-1583A285F49A}"/>
              </a:ext>
            </a:extLst>
          </p:cNvPr>
          <p:cNvSpPr txBox="1"/>
          <p:nvPr/>
        </p:nvSpPr>
        <p:spPr>
          <a:xfrm>
            <a:off x="304801" y="889241"/>
            <a:ext cx="8527424" cy="338554"/>
          </a:xfrm>
          <a:prstGeom prst="rect">
            <a:avLst/>
          </a:prstGeom>
          <a:solidFill>
            <a:srgbClr val="002060"/>
          </a:solidFill>
        </p:spPr>
        <p:txBody>
          <a:bodyPr wrap="square" rtlCol="0">
            <a:spAutoFit/>
          </a:bodyPr>
          <a:lstStyle/>
          <a:p>
            <a:pPr algn="ctr"/>
            <a:r>
              <a:rPr lang="en-US" sz="1600" dirty="0">
                <a:solidFill>
                  <a:schemeClr val="bg1"/>
                </a:solidFill>
              </a:rPr>
              <a:t>Implied Enterprise Value &amp; Equity Value from DCF</a:t>
            </a:r>
          </a:p>
        </p:txBody>
      </p:sp>
      <p:pic>
        <p:nvPicPr>
          <p:cNvPr id="9" name="Picture 8">
            <a:extLst>
              <a:ext uri="{FF2B5EF4-FFF2-40B4-BE49-F238E27FC236}">
                <a16:creationId xmlns:a16="http://schemas.microsoft.com/office/drawing/2014/main" id="{AC0D66E5-6405-6D97-BD59-FD6B7BE3E7B0}"/>
              </a:ext>
            </a:extLst>
          </p:cNvPr>
          <p:cNvPicPr>
            <a:picLocks noChangeAspect="1"/>
          </p:cNvPicPr>
          <p:nvPr/>
        </p:nvPicPr>
        <p:blipFill>
          <a:blip r:embed="rId2"/>
          <a:stretch>
            <a:fillRect/>
          </a:stretch>
        </p:blipFill>
        <p:spPr>
          <a:xfrm>
            <a:off x="311775" y="1274685"/>
            <a:ext cx="782083" cy="244774"/>
          </a:xfrm>
          <a:prstGeom prst="rect">
            <a:avLst/>
          </a:prstGeom>
        </p:spPr>
      </p:pic>
      <p:sp>
        <p:nvSpPr>
          <p:cNvPr id="12" name="TextBox 11">
            <a:extLst>
              <a:ext uri="{FF2B5EF4-FFF2-40B4-BE49-F238E27FC236}">
                <a16:creationId xmlns:a16="http://schemas.microsoft.com/office/drawing/2014/main" id="{59E890A7-8B9A-6C4F-2744-081813E9F240}"/>
              </a:ext>
            </a:extLst>
          </p:cNvPr>
          <p:cNvSpPr txBox="1"/>
          <p:nvPr/>
        </p:nvSpPr>
        <p:spPr>
          <a:xfrm>
            <a:off x="304801" y="6078224"/>
            <a:ext cx="8527424" cy="338554"/>
          </a:xfrm>
          <a:prstGeom prst="rect">
            <a:avLst/>
          </a:prstGeom>
          <a:solidFill>
            <a:srgbClr val="002060"/>
          </a:solidFill>
        </p:spPr>
        <p:txBody>
          <a:bodyPr wrap="square" rtlCol="0">
            <a:spAutoFit/>
          </a:bodyPr>
          <a:lstStyle/>
          <a:p>
            <a:pPr algn="ctr"/>
            <a:r>
              <a:rPr lang="en-US" sz="1600" dirty="0">
                <a:solidFill>
                  <a:schemeClr val="bg1"/>
                </a:solidFill>
              </a:rPr>
              <a:t>We believe Nintendo should be valued between $62.3B–$77.4B, with a midpoint valuation of $69.6B</a:t>
            </a:r>
            <a:endParaRPr lang="en-US" sz="1600" dirty="0">
              <a:solidFill>
                <a:schemeClr val="bg1"/>
              </a:solidFill>
            </a:endParaRPr>
          </a:p>
        </p:txBody>
      </p:sp>
      <p:sp>
        <p:nvSpPr>
          <p:cNvPr id="13" name="TextBox 12"/>
          <p:cNvSpPr txBox="1"/>
          <p:nvPr/>
        </p:nvSpPr>
        <p:spPr>
          <a:xfrm>
            <a:off x="304801" y="4512677"/>
            <a:ext cx="4220467" cy="360000"/>
          </a:xfrm>
          <a:prstGeom prst="rect">
            <a:avLst/>
          </a:prstGeom>
          <a:noFill/>
        </p:spPr>
        <p:txBody>
          <a:bodyPr wrap="none" tIns="0" bIns="0">
            <a:spAutoFit/>
          </a:bodyPr>
          <a:lstStyle/>
          <a:p>
            <a:pPr algn="ctr"/>
            <a:r>
              <a:rPr sz="2800" b="1">
                <a:solidFill>
                  <a:srgbClr val="002060"/>
                </a:solidFill>
              </a:rPr>
              <a:t>$69.6B</a:t>
            </a:r>
          </a:p>
        </p:txBody>
      </p:sp>
      <p:sp>
        <p:nvSpPr>
          <p:cNvPr id="14" name="TextBox 13"/>
          <p:cNvSpPr txBox="1"/>
          <p:nvPr/>
        </p:nvSpPr>
        <p:spPr>
          <a:xfrm>
            <a:off x="4611758" y="4512677"/>
            <a:ext cx="4220467" cy="360000"/>
          </a:xfrm>
          <a:prstGeom prst="rect">
            <a:avLst/>
          </a:prstGeom>
          <a:noFill/>
        </p:spPr>
        <p:txBody>
          <a:bodyPr wrap="none" tIns="0" bIns="0">
            <a:spAutoFit/>
          </a:bodyPr>
          <a:lstStyle/>
          <a:p>
            <a:pPr algn="ctr"/>
            <a:r>
              <a:rPr sz="2800" b="1">
                <a:solidFill>
                  <a:srgbClr val="002060"/>
                </a:solidFill>
              </a:rPr>
              <a:t>$78.71</a:t>
            </a:r>
          </a:p>
        </p:txBody>
      </p:sp>
      <p:graphicFrame>
        <p:nvGraphicFramePr>
          <p:cNvPr id="15" name="Table 14"/>
          <p:cNvGraphicFramePr>
            <a:graphicFrameLocks noGrp="1"/>
          </p:cNvGraphicFramePr>
          <p:nvPr/>
        </p:nvGraphicFramePr>
        <p:xfrm>
          <a:off x="228600" y="4900000"/>
          <a:ext cx="4175756" cy="1129998"/>
        </p:xfrm>
        <a:graphic>
          <a:graphicData uri="http://schemas.openxmlformats.org/drawingml/2006/table">
            <a:tbl>
              <a:tblPr>
                <a:tableStyleId>{5C22544A-7EE6-4342-B048-85BDC9FD1C3A}</a:tableStyleId>
              </a:tblPr>
              <a:tblGrid>
                <a:gridCol w="835151"/>
                <a:gridCol w="668121"/>
                <a:gridCol w="668121"/>
                <a:gridCol w="668121"/>
                <a:gridCol w="668121"/>
                <a:gridCol w="668121"/>
              </a:tblGrid>
              <a:tr h="188333">
                <a:tc>
                  <a:txBody>
                    <a:bodyPr wrap="none"/>
                    <a:lstStyle/>
                    <a:p>
                      <a:pPr algn="ctr"/>
                      <a:r>
                        <a:rPr sz="750" b="1">
                          <a:solidFill>
                            <a:srgbClr val="FFFFFF"/>
                          </a:solidFill>
                        </a:rPr>
                        <a:t>WACC \ Mult.</a:t>
                      </a:r>
                    </a:p>
                  </a:txBody>
                  <a:tcPr marL="9000" marR="9000" marT="1000" marB="1000" anchor="ctr">
                    <a:solidFill>
                      <a:srgbClr val="002060"/>
                    </a:solidFill>
                  </a:tcPr>
                </a:tc>
                <a:tc>
                  <a:txBody>
                    <a:bodyPr wrap="none"/>
                    <a:lstStyle/>
                    <a:p>
                      <a:pPr algn="ctr"/>
                      <a:r>
                        <a:rPr sz="850" b="1">
                          <a:solidFill>
                            <a:srgbClr val="FFFFFF"/>
                          </a:solidFill>
                        </a:rPr>
                        <a:t>11.0x</a:t>
                      </a:r>
                    </a:p>
                  </a:txBody>
                  <a:tcPr marL="9000" marR="9000" marT="1000" marB="1000" anchor="ctr">
                    <a:solidFill>
                      <a:srgbClr val="002060"/>
                    </a:solidFill>
                  </a:tcPr>
                </a:tc>
                <a:tc>
                  <a:txBody>
                    <a:bodyPr wrap="none"/>
                    <a:lstStyle/>
                    <a:p>
                      <a:pPr algn="ctr"/>
                      <a:r>
                        <a:rPr sz="850" b="1">
                          <a:solidFill>
                            <a:srgbClr val="FFFFFF"/>
                          </a:solidFill>
                        </a:rPr>
                        <a:t>11.5x</a:t>
                      </a:r>
                    </a:p>
                  </a:txBody>
                  <a:tcPr marL="9000" marR="9000" marT="1000" marB="1000" anchor="ctr">
                    <a:solidFill>
                      <a:srgbClr val="002060"/>
                    </a:solidFill>
                  </a:tcPr>
                </a:tc>
                <a:tc>
                  <a:txBody>
                    <a:bodyPr wrap="none"/>
                    <a:lstStyle/>
                    <a:p>
                      <a:pPr algn="ctr"/>
                      <a:r>
                        <a:rPr sz="850" b="1">
                          <a:solidFill>
                            <a:srgbClr val="FFFFFF"/>
                          </a:solidFill>
                        </a:rPr>
                        <a:t>12.0x</a:t>
                      </a:r>
                    </a:p>
                  </a:txBody>
                  <a:tcPr marL="9000" marR="9000" marT="1000" marB="1000" anchor="ctr">
                    <a:solidFill>
                      <a:srgbClr val="002060"/>
                    </a:solidFill>
                  </a:tcPr>
                </a:tc>
                <a:tc>
                  <a:txBody>
                    <a:bodyPr wrap="none"/>
                    <a:lstStyle/>
                    <a:p>
                      <a:pPr algn="ctr"/>
                      <a:r>
                        <a:rPr sz="850" b="1">
                          <a:solidFill>
                            <a:srgbClr val="FFFFFF"/>
                          </a:solidFill>
                        </a:rPr>
                        <a:t>12.5x</a:t>
                      </a:r>
                    </a:p>
                  </a:txBody>
                  <a:tcPr marL="9000" marR="9000" marT="1000" marB="1000" anchor="ctr">
                    <a:solidFill>
                      <a:srgbClr val="002060"/>
                    </a:solidFill>
                  </a:tcPr>
                </a:tc>
                <a:tc>
                  <a:txBody>
                    <a:bodyPr wrap="none"/>
                    <a:lstStyle/>
                    <a:p>
                      <a:pPr algn="ctr"/>
                      <a:r>
                        <a:rPr sz="850" b="1">
                          <a:solidFill>
                            <a:srgbClr val="FFFFFF"/>
                          </a:solidFill>
                        </a:rPr>
                        <a:t>13.0x</a:t>
                      </a:r>
                    </a:p>
                  </a:txBody>
                  <a:tcPr marL="9000" marR="9000" marT="1000" marB="1000" anchor="ctr">
                    <a:solidFill>
                      <a:srgbClr val="002060"/>
                    </a:solidFill>
                  </a:tcPr>
                </a:tc>
              </a:tr>
              <a:tr h="188333">
                <a:tc>
                  <a:txBody>
                    <a:bodyPr wrap="none"/>
                    <a:lstStyle/>
                    <a:p>
                      <a:pPr algn="ctr"/>
                      <a:r>
                        <a:rPr sz="850" b="1">
                          <a:solidFill>
                            <a:srgbClr val="FFFFFF"/>
                          </a:solidFill>
                        </a:rPr>
                        <a:t>7.5%</a:t>
                      </a:r>
                    </a:p>
                  </a:txBody>
                  <a:tcPr marL="9000" marR="9000" marT="1000" marB="1000" anchor="ctr">
                    <a:solidFill>
                      <a:srgbClr val="002060"/>
                    </a:solidFill>
                  </a:tcPr>
                </a:tc>
                <a:tc>
                  <a:txBody>
                    <a:bodyPr wrap="none"/>
                    <a:lstStyle/>
                    <a:p>
                      <a:pPr algn="ctr"/>
                      <a:r>
                        <a:rPr sz="850" b="0">
                          <a:solidFill>
                            <a:srgbClr val="000000"/>
                          </a:solidFill>
                        </a:rPr>
                        <a:t>$67,742</a:t>
                      </a:r>
                    </a:p>
                  </a:txBody>
                  <a:tcPr marL="9000" marR="9000" marT="1000" marB="1000" anchor="ctr">
                    <a:noFill/>
                  </a:tcPr>
                </a:tc>
                <a:tc>
                  <a:txBody>
                    <a:bodyPr wrap="none"/>
                    <a:lstStyle/>
                    <a:p>
                      <a:pPr algn="ctr"/>
                      <a:r>
                        <a:rPr sz="850" b="0">
                          <a:solidFill>
                            <a:srgbClr val="000000"/>
                          </a:solidFill>
                        </a:rPr>
                        <a:t>$70,160</a:t>
                      </a:r>
                    </a:p>
                  </a:txBody>
                  <a:tcPr marL="9000" marR="9000" marT="1000" marB="1000" anchor="ctr">
                    <a:noFill/>
                  </a:tcPr>
                </a:tc>
                <a:tc>
                  <a:txBody>
                    <a:bodyPr wrap="none"/>
                    <a:lstStyle/>
                    <a:p>
                      <a:pPr algn="ctr"/>
                      <a:r>
                        <a:rPr sz="850" b="0">
                          <a:solidFill>
                            <a:srgbClr val="000000"/>
                          </a:solidFill>
                        </a:rPr>
                        <a:t>$72,578</a:t>
                      </a:r>
                    </a:p>
                  </a:txBody>
                  <a:tcPr marL="9000" marR="9000" marT="1000" marB="1000" anchor="ctr">
                    <a:noFill/>
                  </a:tcPr>
                </a:tc>
                <a:tc>
                  <a:txBody>
                    <a:bodyPr wrap="none"/>
                    <a:lstStyle/>
                    <a:p>
                      <a:pPr algn="ctr"/>
                      <a:r>
                        <a:rPr sz="850" b="0">
                          <a:solidFill>
                            <a:srgbClr val="000000"/>
                          </a:solidFill>
                        </a:rPr>
                        <a:t>$74,997</a:t>
                      </a:r>
                    </a:p>
                  </a:txBody>
                  <a:tcPr marL="9000" marR="9000" marT="1000" marB="1000" anchor="ctr">
                    <a:noFill/>
                  </a:tcPr>
                </a:tc>
                <a:tc>
                  <a:txBody>
                    <a:bodyPr wrap="none"/>
                    <a:lstStyle/>
                    <a:p>
                      <a:pPr algn="ctr"/>
                      <a:r>
                        <a:rPr sz="850" b="0">
                          <a:solidFill>
                            <a:srgbClr val="000000"/>
                          </a:solidFill>
                        </a:rPr>
                        <a:t>$77,415</a:t>
                      </a:r>
                    </a:p>
                  </a:txBody>
                  <a:tcPr marL="9000" marR="9000" marT="1000" marB="1000" anchor="ctr">
                    <a:noFill/>
                  </a:tcPr>
                </a:tc>
              </a:tr>
              <a:tr h="188333">
                <a:tc>
                  <a:txBody>
                    <a:bodyPr wrap="none"/>
                    <a:lstStyle/>
                    <a:p>
                      <a:pPr algn="ctr"/>
                      <a:r>
                        <a:rPr sz="850" b="1">
                          <a:solidFill>
                            <a:srgbClr val="FFFFFF"/>
                          </a:solidFill>
                        </a:rPr>
                        <a:t>8.0%</a:t>
                      </a:r>
                    </a:p>
                  </a:txBody>
                  <a:tcPr marL="9000" marR="9000" marT="1000" marB="1000" anchor="ctr">
                    <a:solidFill>
                      <a:srgbClr val="002060"/>
                    </a:solidFill>
                  </a:tcPr>
                </a:tc>
                <a:tc>
                  <a:txBody>
                    <a:bodyPr wrap="none"/>
                    <a:lstStyle/>
                    <a:p>
                      <a:pPr algn="ctr"/>
                      <a:r>
                        <a:rPr sz="850" b="0">
                          <a:solidFill>
                            <a:srgbClr val="000000"/>
                          </a:solidFill>
                        </a:rPr>
                        <a:t>$66,323</a:t>
                      </a:r>
                    </a:p>
                  </a:txBody>
                  <a:tcPr marL="9000" marR="9000" marT="1000" marB="1000" anchor="ctr">
                    <a:noFill/>
                  </a:tcPr>
                </a:tc>
                <a:tc>
                  <a:txBody>
                    <a:bodyPr wrap="none"/>
                    <a:lstStyle/>
                    <a:p>
                      <a:pPr algn="ctr"/>
                      <a:r>
                        <a:rPr sz="850" b="0">
                          <a:solidFill>
                            <a:srgbClr val="000000"/>
                          </a:solidFill>
                        </a:rPr>
                        <a:t>$68,686</a:t>
                      </a:r>
                    </a:p>
                  </a:txBody>
                  <a:tcPr marL="9000" marR="9000" marT="1000" marB="1000" anchor="ctr">
                    <a:noFill/>
                  </a:tcPr>
                </a:tc>
                <a:tc>
                  <a:txBody>
                    <a:bodyPr wrap="none"/>
                    <a:lstStyle/>
                    <a:p>
                      <a:pPr algn="ctr"/>
                      <a:r>
                        <a:rPr sz="850" b="0">
                          <a:solidFill>
                            <a:srgbClr val="000000"/>
                          </a:solidFill>
                        </a:rPr>
                        <a:t>$71,048</a:t>
                      </a:r>
                    </a:p>
                  </a:txBody>
                  <a:tcPr marL="9000" marR="9000" marT="1000" marB="1000" anchor="ctr">
                    <a:noFill/>
                  </a:tcPr>
                </a:tc>
                <a:tc>
                  <a:txBody>
                    <a:bodyPr wrap="none"/>
                    <a:lstStyle/>
                    <a:p>
                      <a:pPr algn="ctr"/>
                      <a:r>
                        <a:rPr sz="850" b="0">
                          <a:solidFill>
                            <a:srgbClr val="000000"/>
                          </a:solidFill>
                        </a:rPr>
                        <a:t>$73,411</a:t>
                      </a:r>
                    </a:p>
                  </a:txBody>
                  <a:tcPr marL="9000" marR="9000" marT="1000" marB="1000" anchor="ctr">
                    <a:noFill/>
                  </a:tcPr>
                </a:tc>
                <a:tc>
                  <a:txBody>
                    <a:bodyPr wrap="none"/>
                    <a:lstStyle/>
                    <a:p>
                      <a:pPr algn="ctr"/>
                      <a:r>
                        <a:rPr sz="850" b="0">
                          <a:solidFill>
                            <a:srgbClr val="000000"/>
                          </a:solidFill>
                        </a:rPr>
                        <a:t>$75,774</a:t>
                      </a:r>
                    </a:p>
                  </a:txBody>
                  <a:tcPr marL="9000" marR="9000" marT="1000" marB="1000" anchor="ctr">
                    <a:noFill/>
                  </a:tcPr>
                </a:tc>
              </a:tr>
              <a:tr h="188333">
                <a:tc>
                  <a:txBody>
                    <a:bodyPr wrap="none"/>
                    <a:lstStyle/>
                    <a:p>
                      <a:pPr algn="ctr"/>
                      <a:r>
                        <a:rPr sz="850" b="1">
                          <a:solidFill>
                            <a:srgbClr val="FFFFFF"/>
                          </a:solidFill>
                        </a:rPr>
                        <a:t>8.5%</a:t>
                      </a:r>
                    </a:p>
                  </a:txBody>
                  <a:tcPr marL="9000" marR="9000" marT="1000" marB="1000" anchor="ctr">
                    <a:solidFill>
                      <a:srgbClr val="002060"/>
                    </a:solidFill>
                  </a:tcPr>
                </a:tc>
                <a:tc>
                  <a:txBody>
                    <a:bodyPr wrap="none"/>
                    <a:lstStyle/>
                    <a:p>
                      <a:pPr algn="ctr"/>
                      <a:r>
                        <a:rPr sz="850" b="0">
                          <a:solidFill>
                            <a:srgbClr val="000000"/>
                          </a:solidFill>
                        </a:rPr>
                        <a:t>$64,941</a:t>
                      </a:r>
                    </a:p>
                  </a:txBody>
                  <a:tcPr marL="9000" marR="9000" marT="1000" marB="1000" anchor="ctr">
                    <a:noFill/>
                  </a:tcPr>
                </a:tc>
                <a:tc>
                  <a:txBody>
                    <a:bodyPr wrap="none"/>
                    <a:lstStyle/>
                    <a:p>
                      <a:pPr algn="ctr"/>
                      <a:r>
                        <a:rPr sz="850" b="0">
                          <a:solidFill>
                            <a:srgbClr val="000000"/>
                          </a:solidFill>
                        </a:rPr>
                        <a:t>$67,250</a:t>
                      </a:r>
                    </a:p>
                  </a:txBody>
                  <a:tcPr marL="9000" marR="9000" marT="1000" marB="1000" anchor="ctr">
                    <a:noFill/>
                  </a:tcPr>
                </a:tc>
                <a:tc>
                  <a:txBody>
                    <a:bodyPr wrap="none"/>
                    <a:lstStyle/>
                    <a:p>
                      <a:pPr algn="ctr"/>
                      <a:r>
                        <a:rPr sz="850" b="1">
                          <a:solidFill>
                            <a:srgbClr val="000000"/>
                          </a:solidFill>
                        </a:rPr>
                        <a:t>$69,559</a:t>
                      </a:r>
                    </a:p>
                  </a:txBody>
                  <a:tcPr marL="9000" marR="9000" marT="1000" marB="1000" anchor="ctr">
                    <a:solidFill>
                      <a:srgbClr val="D9E2F3"/>
                    </a:solidFill>
                  </a:tcPr>
                </a:tc>
                <a:tc>
                  <a:txBody>
                    <a:bodyPr wrap="none"/>
                    <a:lstStyle/>
                    <a:p>
                      <a:pPr algn="ctr"/>
                      <a:r>
                        <a:rPr sz="850" b="0">
                          <a:solidFill>
                            <a:srgbClr val="000000"/>
                          </a:solidFill>
                        </a:rPr>
                        <a:t>$71,867</a:t>
                      </a:r>
                    </a:p>
                  </a:txBody>
                  <a:tcPr marL="9000" marR="9000" marT="1000" marB="1000" anchor="ctr">
                    <a:noFill/>
                  </a:tcPr>
                </a:tc>
                <a:tc>
                  <a:txBody>
                    <a:bodyPr wrap="none"/>
                    <a:lstStyle/>
                    <a:p>
                      <a:pPr algn="ctr"/>
                      <a:r>
                        <a:rPr sz="850" b="0">
                          <a:solidFill>
                            <a:srgbClr val="000000"/>
                          </a:solidFill>
                        </a:rPr>
                        <a:t>$74,176</a:t>
                      </a:r>
                    </a:p>
                  </a:txBody>
                  <a:tcPr marL="9000" marR="9000" marT="1000" marB="1000" anchor="ctr">
                    <a:noFill/>
                  </a:tcPr>
                </a:tc>
              </a:tr>
              <a:tr h="188333">
                <a:tc>
                  <a:txBody>
                    <a:bodyPr wrap="none"/>
                    <a:lstStyle/>
                    <a:p>
                      <a:pPr algn="ctr"/>
                      <a:r>
                        <a:rPr sz="850" b="1">
                          <a:solidFill>
                            <a:srgbClr val="FFFFFF"/>
                          </a:solidFill>
                        </a:rPr>
                        <a:t>9.0%</a:t>
                      </a:r>
                    </a:p>
                  </a:txBody>
                  <a:tcPr marL="9000" marR="9000" marT="1000" marB="1000" anchor="ctr">
                    <a:solidFill>
                      <a:srgbClr val="002060"/>
                    </a:solidFill>
                  </a:tcPr>
                </a:tc>
                <a:tc>
                  <a:txBody>
                    <a:bodyPr wrap="none"/>
                    <a:lstStyle/>
                    <a:p>
                      <a:pPr algn="ctr"/>
                      <a:r>
                        <a:rPr sz="850" b="0">
                          <a:solidFill>
                            <a:srgbClr val="000000"/>
                          </a:solidFill>
                        </a:rPr>
                        <a:t>$63,596</a:t>
                      </a:r>
                    </a:p>
                  </a:txBody>
                  <a:tcPr marL="9000" marR="9000" marT="1000" marB="1000" anchor="ctr">
                    <a:noFill/>
                  </a:tcPr>
                </a:tc>
                <a:tc>
                  <a:txBody>
                    <a:bodyPr wrap="none"/>
                    <a:lstStyle/>
                    <a:p>
                      <a:pPr algn="ctr"/>
                      <a:r>
                        <a:rPr sz="850" b="0">
                          <a:solidFill>
                            <a:srgbClr val="000000"/>
                          </a:solidFill>
                        </a:rPr>
                        <a:t>$65,852</a:t>
                      </a:r>
                    </a:p>
                  </a:txBody>
                  <a:tcPr marL="9000" marR="9000" marT="1000" marB="1000" anchor="ctr">
                    <a:noFill/>
                  </a:tcPr>
                </a:tc>
                <a:tc>
                  <a:txBody>
                    <a:bodyPr wrap="none"/>
                    <a:lstStyle/>
                    <a:p>
                      <a:pPr algn="ctr"/>
                      <a:r>
                        <a:rPr sz="850" b="0">
                          <a:solidFill>
                            <a:srgbClr val="000000"/>
                          </a:solidFill>
                        </a:rPr>
                        <a:t>$68,108</a:t>
                      </a:r>
                    </a:p>
                  </a:txBody>
                  <a:tcPr marL="9000" marR="9000" marT="1000" marB="1000" anchor="ctr">
                    <a:noFill/>
                  </a:tcPr>
                </a:tc>
                <a:tc>
                  <a:txBody>
                    <a:bodyPr wrap="none"/>
                    <a:lstStyle/>
                    <a:p>
                      <a:pPr algn="ctr"/>
                      <a:r>
                        <a:rPr sz="850" b="0">
                          <a:solidFill>
                            <a:srgbClr val="000000"/>
                          </a:solidFill>
                        </a:rPr>
                        <a:t>$70,365</a:t>
                      </a:r>
                    </a:p>
                  </a:txBody>
                  <a:tcPr marL="9000" marR="9000" marT="1000" marB="1000" anchor="ctr">
                    <a:noFill/>
                  </a:tcPr>
                </a:tc>
                <a:tc>
                  <a:txBody>
                    <a:bodyPr wrap="none"/>
                    <a:lstStyle/>
                    <a:p>
                      <a:pPr algn="ctr"/>
                      <a:r>
                        <a:rPr sz="850" b="0">
                          <a:solidFill>
                            <a:srgbClr val="000000"/>
                          </a:solidFill>
                        </a:rPr>
                        <a:t>$72,621</a:t>
                      </a:r>
                    </a:p>
                  </a:txBody>
                  <a:tcPr marL="9000" marR="9000" marT="1000" marB="1000" anchor="ctr">
                    <a:noFill/>
                  </a:tcPr>
                </a:tc>
              </a:tr>
              <a:tr h="188333">
                <a:tc>
                  <a:txBody>
                    <a:bodyPr wrap="none"/>
                    <a:lstStyle/>
                    <a:p>
                      <a:pPr algn="ctr"/>
                      <a:r>
                        <a:rPr sz="850" b="1">
                          <a:solidFill>
                            <a:srgbClr val="FFFFFF"/>
                          </a:solidFill>
                        </a:rPr>
                        <a:t>9.5%</a:t>
                      </a:r>
                    </a:p>
                  </a:txBody>
                  <a:tcPr marL="9000" marR="9000" marT="1000" marB="1000" anchor="ctr">
                    <a:solidFill>
                      <a:srgbClr val="002060"/>
                    </a:solidFill>
                  </a:tcPr>
                </a:tc>
                <a:tc>
                  <a:txBody>
                    <a:bodyPr wrap="none"/>
                    <a:lstStyle/>
                    <a:p>
                      <a:pPr algn="ctr"/>
                      <a:r>
                        <a:rPr sz="850" b="0">
                          <a:solidFill>
                            <a:srgbClr val="000000"/>
                          </a:solidFill>
                        </a:rPr>
                        <a:t>$62,286</a:t>
                      </a:r>
                    </a:p>
                  </a:txBody>
                  <a:tcPr marL="9000" marR="9000" marT="1000" marB="1000" anchor="ctr">
                    <a:noFill/>
                  </a:tcPr>
                </a:tc>
                <a:tc>
                  <a:txBody>
                    <a:bodyPr wrap="none"/>
                    <a:lstStyle/>
                    <a:p>
                      <a:pPr algn="ctr"/>
                      <a:r>
                        <a:rPr sz="850" b="0">
                          <a:solidFill>
                            <a:srgbClr val="000000"/>
                          </a:solidFill>
                        </a:rPr>
                        <a:t>$64,491</a:t>
                      </a:r>
                    </a:p>
                  </a:txBody>
                  <a:tcPr marL="9000" marR="9000" marT="1000" marB="1000" anchor="ctr">
                    <a:noFill/>
                  </a:tcPr>
                </a:tc>
                <a:tc>
                  <a:txBody>
                    <a:bodyPr wrap="none"/>
                    <a:lstStyle/>
                    <a:p>
                      <a:pPr algn="ctr"/>
                      <a:r>
                        <a:rPr sz="850" b="0">
                          <a:solidFill>
                            <a:srgbClr val="000000"/>
                          </a:solidFill>
                        </a:rPr>
                        <a:t>$66,697</a:t>
                      </a:r>
                    </a:p>
                  </a:txBody>
                  <a:tcPr marL="9000" marR="9000" marT="1000" marB="1000" anchor="ctr">
                    <a:noFill/>
                  </a:tcPr>
                </a:tc>
                <a:tc>
                  <a:txBody>
                    <a:bodyPr wrap="none"/>
                    <a:lstStyle/>
                    <a:p>
                      <a:pPr algn="ctr"/>
                      <a:r>
                        <a:rPr sz="850" b="0">
                          <a:solidFill>
                            <a:srgbClr val="000000"/>
                          </a:solidFill>
                        </a:rPr>
                        <a:t>$68,902</a:t>
                      </a:r>
                    </a:p>
                  </a:txBody>
                  <a:tcPr marL="9000" marR="9000" marT="1000" marB="1000" anchor="ctr">
                    <a:noFill/>
                  </a:tcPr>
                </a:tc>
                <a:tc>
                  <a:txBody>
                    <a:bodyPr wrap="none"/>
                    <a:lstStyle/>
                    <a:p>
                      <a:pPr algn="ctr"/>
                      <a:r>
                        <a:rPr sz="850" b="0">
                          <a:solidFill>
                            <a:srgbClr val="000000"/>
                          </a:solidFill>
                        </a:rPr>
                        <a:t>$71,107</a:t>
                      </a:r>
                    </a:p>
                  </a:txBody>
                  <a:tcPr marL="9000" marR="9000" marT="1000" marB="1000" anchor="ctr">
                    <a:noFill/>
                  </a:tcPr>
                </a:tc>
              </a:tr>
            </a:tbl>
          </a:graphicData>
        </a:graphic>
      </p:graphicFrame>
      <p:graphicFrame>
        <p:nvGraphicFramePr>
          <p:cNvPr id="16" name="Table 15"/>
          <p:cNvGraphicFramePr>
            <a:graphicFrameLocks noGrp="1"/>
          </p:cNvGraphicFramePr>
          <p:nvPr/>
        </p:nvGraphicFramePr>
        <p:xfrm>
          <a:off x="4611758" y="4900000"/>
          <a:ext cx="4175756" cy="1129998"/>
        </p:xfrm>
        <a:graphic>
          <a:graphicData uri="http://schemas.openxmlformats.org/drawingml/2006/table">
            <a:tbl>
              <a:tblPr>
                <a:tableStyleId>{5C22544A-7EE6-4342-B048-85BDC9FD1C3A}</a:tableStyleId>
              </a:tblPr>
              <a:tblGrid>
                <a:gridCol w="835151"/>
                <a:gridCol w="668121"/>
                <a:gridCol w="668121"/>
                <a:gridCol w="668121"/>
                <a:gridCol w="668121"/>
                <a:gridCol w="668121"/>
              </a:tblGrid>
              <a:tr h="188333">
                <a:tc>
                  <a:txBody>
                    <a:bodyPr wrap="none"/>
                    <a:lstStyle/>
                    <a:p>
                      <a:pPr algn="ctr"/>
                      <a:r>
                        <a:rPr sz="750" b="1">
                          <a:solidFill>
                            <a:srgbClr val="FFFFFF"/>
                          </a:solidFill>
                        </a:rPr>
                        <a:t>WACC \ Mult.</a:t>
                      </a:r>
                    </a:p>
                  </a:txBody>
                  <a:tcPr marL="9000" marR="9000" marT="1000" marB="1000" anchor="ctr">
                    <a:solidFill>
                      <a:srgbClr val="002060"/>
                    </a:solidFill>
                  </a:tcPr>
                </a:tc>
                <a:tc>
                  <a:txBody>
                    <a:bodyPr wrap="none"/>
                    <a:lstStyle/>
                    <a:p>
                      <a:pPr algn="ctr"/>
                      <a:r>
                        <a:rPr sz="850" b="1">
                          <a:solidFill>
                            <a:srgbClr val="FFFFFF"/>
                          </a:solidFill>
                        </a:rPr>
                        <a:t>11.0x</a:t>
                      </a:r>
                    </a:p>
                  </a:txBody>
                  <a:tcPr marL="9000" marR="9000" marT="1000" marB="1000" anchor="ctr">
                    <a:solidFill>
                      <a:srgbClr val="002060"/>
                    </a:solidFill>
                  </a:tcPr>
                </a:tc>
                <a:tc>
                  <a:txBody>
                    <a:bodyPr wrap="none"/>
                    <a:lstStyle/>
                    <a:p>
                      <a:pPr algn="ctr"/>
                      <a:r>
                        <a:rPr sz="850" b="1">
                          <a:solidFill>
                            <a:srgbClr val="FFFFFF"/>
                          </a:solidFill>
                        </a:rPr>
                        <a:t>11.5x</a:t>
                      </a:r>
                    </a:p>
                  </a:txBody>
                  <a:tcPr marL="9000" marR="9000" marT="1000" marB="1000" anchor="ctr">
                    <a:solidFill>
                      <a:srgbClr val="002060"/>
                    </a:solidFill>
                  </a:tcPr>
                </a:tc>
                <a:tc>
                  <a:txBody>
                    <a:bodyPr wrap="none"/>
                    <a:lstStyle/>
                    <a:p>
                      <a:pPr algn="ctr"/>
                      <a:r>
                        <a:rPr sz="850" b="1">
                          <a:solidFill>
                            <a:srgbClr val="FFFFFF"/>
                          </a:solidFill>
                        </a:rPr>
                        <a:t>12.0x</a:t>
                      </a:r>
                    </a:p>
                  </a:txBody>
                  <a:tcPr marL="9000" marR="9000" marT="1000" marB="1000" anchor="ctr">
                    <a:solidFill>
                      <a:srgbClr val="002060"/>
                    </a:solidFill>
                  </a:tcPr>
                </a:tc>
                <a:tc>
                  <a:txBody>
                    <a:bodyPr wrap="none"/>
                    <a:lstStyle/>
                    <a:p>
                      <a:pPr algn="ctr"/>
                      <a:r>
                        <a:rPr sz="850" b="1">
                          <a:solidFill>
                            <a:srgbClr val="FFFFFF"/>
                          </a:solidFill>
                        </a:rPr>
                        <a:t>12.5x</a:t>
                      </a:r>
                    </a:p>
                  </a:txBody>
                  <a:tcPr marL="9000" marR="9000" marT="1000" marB="1000" anchor="ctr">
                    <a:solidFill>
                      <a:srgbClr val="002060"/>
                    </a:solidFill>
                  </a:tcPr>
                </a:tc>
                <a:tc>
                  <a:txBody>
                    <a:bodyPr wrap="none"/>
                    <a:lstStyle/>
                    <a:p>
                      <a:pPr algn="ctr"/>
                      <a:r>
                        <a:rPr sz="850" b="1">
                          <a:solidFill>
                            <a:srgbClr val="FFFFFF"/>
                          </a:solidFill>
                        </a:rPr>
                        <a:t>13.0x</a:t>
                      </a:r>
                    </a:p>
                  </a:txBody>
                  <a:tcPr marL="9000" marR="9000" marT="1000" marB="1000" anchor="ctr">
                    <a:solidFill>
                      <a:srgbClr val="002060"/>
                    </a:solidFill>
                  </a:tcPr>
                </a:tc>
              </a:tr>
              <a:tr h="188333">
                <a:tc>
                  <a:txBody>
                    <a:bodyPr wrap="none"/>
                    <a:lstStyle/>
                    <a:p>
                      <a:pPr algn="ctr"/>
                      <a:r>
                        <a:rPr sz="850" b="1">
                          <a:solidFill>
                            <a:srgbClr val="FFFFFF"/>
                          </a:solidFill>
                        </a:rPr>
                        <a:t>7.5%</a:t>
                      </a:r>
                    </a:p>
                  </a:txBody>
                  <a:tcPr marL="9000" marR="9000" marT="1000" marB="1000" anchor="ctr">
                    <a:solidFill>
                      <a:srgbClr val="002060"/>
                    </a:solidFill>
                  </a:tcPr>
                </a:tc>
                <a:tc>
                  <a:txBody>
                    <a:bodyPr wrap="none"/>
                    <a:lstStyle/>
                    <a:p>
                      <a:pPr algn="ctr"/>
                      <a:r>
                        <a:rPr sz="850" b="0">
                          <a:solidFill>
                            <a:srgbClr val="000000"/>
                          </a:solidFill>
                        </a:rPr>
                        <a:t>$76.89</a:t>
                      </a:r>
                    </a:p>
                  </a:txBody>
                  <a:tcPr marL="9000" marR="9000" marT="1000" marB="1000" anchor="ctr">
                    <a:noFill/>
                  </a:tcPr>
                </a:tc>
                <a:tc>
                  <a:txBody>
                    <a:bodyPr wrap="none"/>
                    <a:lstStyle/>
                    <a:p>
                      <a:pPr algn="ctr"/>
                      <a:r>
                        <a:rPr sz="850" b="0">
                          <a:solidFill>
                            <a:srgbClr val="000000"/>
                          </a:solidFill>
                        </a:rPr>
                        <a:t>$79.31</a:t>
                      </a:r>
                    </a:p>
                  </a:txBody>
                  <a:tcPr marL="9000" marR="9000" marT="1000" marB="1000" anchor="ctr">
                    <a:noFill/>
                  </a:tcPr>
                </a:tc>
                <a:tc>
                  <a:txBody>
                    <a:bodyPr wrap="none"/>
                    <a:lstStyle/>
                    <a:p>
                      <a:pPr algn="ctr"/>
                      <a:r>
                        <a:rPr sz="850" b="0">
                          <a:solidFill>
                            <a:srgbClr val="000000"/>
                          </a:solidFill>
                        </a:rPr>
                        <a:t>$81.73</a:t>
                      </a:r>
                    </a:p>
                  </a:txBody>
                  <a:tcPr marL="9000" marR="9000" marT="1000" marB="1000" anchor="ctr">
                    <a:noFill/>
                  </a:tcPr>
                </a:tc>
                <a:tc>
                  <a:txBody>
                    <a:bodyPr wrap="none"/>
                    <a:lstStyle/>
                    <a:p>
                      <a:pPr algn="ctr"/>
                      <a:r>
                        <a:rPr sz="850" b="0">
                          <a:solidFill>
                            <a:srgbClr val="000000"/>
                          </a:solidFill>
                        </a:rPr>
                        <a:t>$84.15</a:t>
                      </a:r>
                    </a:p>
                  </a:txBody>
                  <a:tcPr marL="9000" marR="9000" marT="1000" marB="1000" anchor="ctr">
                    <a:noFill/>
                  </a:tcPr>
                </a:tc>
                <a:tc>
                  <a:txBody>
                    <a:bodyPr wrap="none"/>
                    <a:lstStyle/>
                    <a:p>
                      <a:pPr algn="ctr"/>
                      <a:r>
                        <a:rPr sz="850" b="0">
                          <a:solidFill>
                            <a:srgbClr val="000000"/>
                          </a:solidFill>
                        </a:rPr>
                        <a:t>$86.56</a:t>
                      </a:r>
                    </a:p>
                  </a:txBody>
                  <a:tcPr marL="9000" marR="9000" marT="1000" marB="1000" anchor="ctr">
                    <a:noFill/>
                  </a:tcPr>
                </a:tc>
              </a:tr>
              <a:tr h="188333">
                <a:tc>
                  <a:txBody>
                    <a:bodyPr wrap="none"/>
                    <a:lstStyle/>
                    <a:p>
                      <a:pPr algn="ctr"/>
                      <a:r>
                        <a:rPr sz="850" b="1">
                          <a:solidFill>
                            <a:srgbClr val="FFFFFF"/>
                          </a:solidFill>
                        </a:rPr>
                        <a:t>8.0%</a:t>
                      </a:r>
                    </a:p>
                  </a:txBody>
                  <a:tcPr marL="9000" marR="9000" marT="1000" marB="1000" anchor="ctr">
                    <a:solidFill>
                      <a:srgbClr val="002060"/>
                    </a:solidFill>
                  </a:tcPr>
                </a:tc>
                <a:tc>
                  <a:txBody>
                    <a:bodyPr wrap="none"/>
                    <a:lstStyle/>
                    <a:p>
                      <a:pPr algn="ctr"/>
                      <a:r>
                        <a:rPr sz="850" b="0">
                          <a:solidFill>
                            <a:srgbClr val="000000"/>
                          </a:solidFill>
                        </a:rPr>
                        <a:t>$75.47</a:t>
                      </a:r>
                    </a:p>
                  </a:txBody>
                  <a:tcPr marL="9000" marR="9000" marT="1000" marB="1000" anchor="ctr">
                    <a:noFill/>
                  </a:tcPr>
                </a:tc>
                <a:tc>
                  <a:txBody>
                    <a:bodyPr wrap="none"/>
                    <a:lstStyle/>
                    <a:p>
                      <a:pPr algn="ctr"/>
                      <a:r>
                        <a:rPr sz="850" b="0">
                          <a:solidFill>
                            <a:srgbClr val="000000"/>
                          </a:solidFill>
                        </a:rPr>
                        <a:t>$77.84</a:t>
                      </a:r>
                    </a:p>
                  </a:txBody>
                  <a:tcPr marL="9000" marR="9000" marT="1000" marB="1000" anchor="ctr">
                    <a:noFill/>
                  </a:tcPr>
                </a:tc>
                <a:tc>
                  <a:txBody>
                    <a:bodyPr wrap="none"/>
                    <a:lstStyle/>
                    <a:p>
                      <a:pPr algn="ctr"/>
                      <a:r>
                        <a:rPr sz="850" b="0">
                          <a:solidFill>
                            <a:srgbClr val="000000"/>
                          </a:solidFill>
                        </a:rPr>
                        <a:t>$80.20</a:t>
                      </a:r>
                    </a:p>
                  </a:txBody>
                  <a:tcPr marL="9000" marR="9000" marT="1000" marB="1000" anchor="ctr">
                    <a:noFill/>
                  </a:tcPr>
                </a:tc>
                <a:tc>
                  <a:txBody>
                    <a:bodyPr wrap="none"/>
                    <a:lstStyle/>
                    <a:p>
                      <a:pPr algn="ctr"/>
                      <a:r>
                        <a:rPr sz="850" b="0">
                          <a:solidFill>
                            <a:srgbClr val="000000"/>
                          </a:solidFill>
                        </a:rPr>
                        <a:t>$82.56</a:t>
                      </a:r>
                    </a:p>
                  </a:txBody>
                  <a:tcPr marL="9000" marR="9000" marT="1000" marB="1000" anchor="ctr">
                    <a:noFill/>
                  </a:tcPr>
                </a:tc>
                <a:tc>
                  <a:txBody>
                    <a:bodyPr wrap="none"/>
                    <a:lstStyle/>
                    <a:p>
                      <a:pPr algn="ctr"/>
                      <a:r>
                        <a:rPr sz="850" b="0">
                          <a:solidFill>
                            <a:srgbClr val="000000"/>
                          </a:solidFill>
                        </a:rPr>
                        <a:t>$84.92</a:t>
                      </a:r>
                    </a:p>
                  </a:txBody>
                  <a:tcPr marL="9000" marR="9000" marT="1000" marB="1000" anchor="ctr">
                    <a:noFill/>
                  </a:tcPr>
                </a:tc>
              </a:tr>
              <a:tr h="188333">
                <a:tc>
                  <a:txBody>
                    <a:bodyPr wrap="none"/>
                    <a:lstStyle/>
                    <a:p>
                      <a:pPr algn="ctr"/>
                      <a:r>
                        <a:rPr sz="850" b="1">
                          <a:solidFill>
                            <a:srgbClr val="FFFFFF"/>
                          </a:solidFill>
                        </a:rPr>
                        <a:t>8.5%</a:t>
                      </a:r>
                    </a:p>
                  </a:txBody>
                  <a:tcPr marL="9000" marR="9000" marT="1000" marB="1000" anchor="ctr">
                    <a:solidFill>
                      <a:srgbClr val="002060"/>
                    </a:solidFill>
                  </a:tcPr>
                </a:tc>
                <a:tc>
                  <a:txBody>
                    <a:bodyPr wrap="none"/>
                    <a:lstStyle/>
                    <a:p>
                      <a:pPr algn="ctr"/>
                      <a:r>
                        <a:rPr sz="850" b="0">
                          <a:solidFill>
                            <a:srgbClr val="000000"/>
                          </a:solidFill>
                        </a:rPr>
                        <a:t>$74.09</a:t>
                      </a:r>
                    </a:p>
                  </a:txBody>
                  <a:tcPr marL="9000" marR="9000" marT="1000" marB="1000" anchor="ctr">
                    <a:noFill/>
                  </a:tcPr>
                </a:tc>
                <a:tc>
                  <a:txBody>
                    <a:bodyPr wrap="none"/>
                    <a:lstStyle/>
                    <a:p>
                      <a:pPr algn="ctr"/>
                      <a:r>
                        <a:rPr sz="850" b="0">
                          <a:solidFill>
                            <a:srgbClr val="000000"/>
                          </a:solidFill>
                        </a:rPr>
                        <a:t>$76.40</a:t>
                      </a:r>
                    </a:p>
                  </a:txBody>
                  <a:tcPr marL="9000" marR="9000" marT="1000" marB="1000" anchor="ctr">
                    <a:noFill/>
                  </a:tcPr>
                </a:tc>
                <a:tc>
                  <a:txBody>
                    <a:bodyPr wrap="none"/>
                    <a:lstStyle/>
                    <a:p>
                      <a:pPr algn="ctr"/>
                      <a:r>
                        <a:rPr sz="850" b="1">
                          <a:solidFill>
                            <a:srgbClr val="000000"/>
                          </a:solidFill>
                        </a:rPr>
                        <a:t>$78.71</a:t>
                      </a:r>
                    </a:p>
                  </a:txBody>
                  <a:tcPr marL="9000" marR="9000" marT="1000" marB="1000" anchor="ctr">
                    <a:solidFill>
                      <a:srgbClr val="D9E2F3"/>
                    </a:solidFill>
                  </a:tcPr>
                </a:tc>
                <a:tc>
                  <a:txBody>
                    <a:bodyPr wrap="none"/>
                    <a:lstStyle/>
                    <a:p>
                      <a:pPr algn="ctr"/>
                      <a:r>
                        <a:rPr sz="850" b="0">
                          <a:solidFill>
                            <a:srgbClr val="000000"/>
                          </a:solidFill>
                        </a:rPr>
                        <a:t>$81.02</a:t>
                      </a:r>
                    </a:p>
                  </a:txBody>
                  <a:tcPr marL="9000" marR="9000" marT="1000" marB="1000" anchor="ctr">
                    <a:noFill/>
                  </a:tcPr>
                </a:tc>
                <a:tc>
                  <a:txBody>
                    <a:bodyPr wrap="none"/>
                    <a:lstStyle/>
                    <a:p>
                      <a:pPr algn="ctr"/>
                      <a:r>
                        <a:rPr sz="850" b="0">
                          <a:solidFill>
                            <a:srgbClr val="000000"/>
                          </a:solidFill>
                        </a:rPr>
                        <a:t>$83.33</a:t>
                      </a:r>
                    </a:p>
                  </a:txBody>
                  <a:tcPr marL="9000" marR="9000" marT="1000" marB="1000" anchor="ctr">
                    <a:noFill/>
                  </a:tcPr>
                </a:tc>
              </a:tr>
              <a:tr h="188333">
                <a:tc>
                  <a:txBody>
                    <a:bodyPr wrap="none"/>
                    <a:lstStyle/>
                    <a:p>
                      <a:pPr algn="ctr"/>
                      <a:r>
                        <a:rPr sz="850" b="1">
                          <a:solidFill>
                            <a:srgbClr val="FFFFFF"/>
                          </a:solidFill>
                        </a:rPr>
                        <a:t>9.0%</a:t>
                      </a:r>
                    </a:p>
                  </a:txBody>
                  <a:tcPr marL="9000" marR="9000" marT="1000" marB="1000" anchor="ctr">
                    <a:solidFill>
                      <a:srgbClr val="002060"/>
                    </a:solidFill>
                  </a:tcPr>
                </a:tc>
                <a:tc>
                  <a:txBody>
                    <a:bodyPr wrap="none"/>
                    <a:lstStyle/>
                    <a:p>
                      <a:pPr algn="ctr"/>
                      <a:r>
                        <a:rPr sz="850" b="0">
                          <a:solidFill>
                            <a:srgbClr val="000000"/>
                          </a:solidFill>
                        </a:rPr>
                        <a:t>$72.75</a:t>
                      </a:r>
                    </a:p>
                  </a:txBody>
                  <a:tcPr marL="9000" marR="9000" marT="1000" marB="1000" anchor="ctr">
                    <a:noFill/>
                  </a:tcPr>
                </a:tc>
                <a:tc>
                  <a:txBody>
                    <a:bodyPr wrap="none"/>
                    <a:lstStyle/>
                    <a:p>
                      <a:pPr algn="ctr"/>
                      <a:r>
                        <a:rPr sz="850" b="0">
                          <a:solidFill>
                            <a:srgbClr val="000000"/>
                          </a:solidFill>
                        </a:rPr>
                        <a:t>$75.00</a:t>
                      </a:r>
                    </a:p>
                  </a:txBody>
                  <a:tcPr marL="9000" marR="9000" marT="1000" marB="1000" anchor="ctr">
                    <a:noFill/>
                  </a:tcPr>
                </a:tc>
                <a:tc>
                  <a:txBody>
                    <a:bodyPr wrap="none"/>
                    <a:lstStyle/>
                    <a:p>
                      <a:pPr algn="ctr"/>
                      <a:r>
                        <a:rPr sz="850" b="0">
                          <a:solidFill>
                            <a:srgbClr val="000000"/>
                          </a:solidFill>
                        </a:rPr>
                        <a:t>$77.26</a:t>
                      </a:r>
                    </a:p>
                  </a:txBody>
                  <a:tcPr marL="9000" marR="9000" marT="1000" marB="1000" anchor="ctr">
                    <a:noFill/>
                  </a:tcPr>
                </a:tc>
                <a:tc>
                  <a:txBody>
                    <a:bodyPr wrap="none"/>
                    <a:lstStyle/>
                    <a:p>
                      <a:pPr algn="ctr"/>
                      <a:r>
                        <a:rPr sz="850" b="0">
                          <a:solidFill>
                            <a:srgbClr val="000000"/>
                          </a:solidFill>
                        </a:rPr>
                        <a:t>$79.51</a:t>
                      </a:r>
                    </a:p>
                  </a:txBody>
                  <a:tcPr marL="9000" marR="9000" marT="1000" marB="1000" anchor="ctr">
                    <a:noFill/>
                  </a:tcPr>
                </a:tc>
                <a:tc>
                  <a:txBody>
                    <a:bodyPr wrap="none"/>
                    <a:lstStyle/>
                    <a:p>
                      <a:pPr algn="ctr"/>
                      <a:r>
                        <a:rPr sz="850" b="0">
                          <a:solidFill>
                            <a:srgbClr val="000000"/>
                          </a:solidFill>
                        </a:rPr>
                        <a:t>$81.77</a:t>
                      </a:r>
                    </a:p>
                  </a:txBody>
                  <a:tcPr marL="9000" marR="9000" marT="1000" marB="1000" anchor="ctr">
                    <a:noFill/>
                  </a:tcPr>
                </a:tc>
              </a:tr>
              <a:tr h="188333">
                <a:tc>
                  <a:txBody>
                    <a:bodyPr wrap="none"/>
                    <a:lstStyle/>
                    <a:p>
                      <a:pPr algn="ctr"/>
                      <a:r>
                        <a:rPr sz="850" b="1">
                          <a:solidFill>
                            <a:srgbClr val="FFFFFF"/>
                          </a:solidFill>
                        </a:rPr>
                        <a:t>9.5%</a:t>
                      </a:r>
                    </a:p>
                  </a:txBody>
                  <a:tcPr marL="9000" marR="9000" marT="1000" marB="1000" anchor="ctr">
                    <a:solidFill>
                      <a:srgbClr val="002060"/>
                    </a:solidFill>
                  </a:tcPr>
                </a:tc>
                <a:tc>
                  <a:txBody>
                    <a:bodyPr wrap="none"/>
                    <a:lstStyle/>
                    <a:p>
                      <a:pPr algn="ctr"/>
                      <a:r>
                        <a:rPr sz="850" b="0">
                          <a:solidFill>
                            <a:srgbClr val="000000"/>
                          </a:solidFill>
                        </a:rPr>
                        <a:t>$71.44</a:t>
                      </a:r>
                    </a:p>
                  </a:txBody>
                  <a:tcPr marL="9000" marR="9000" marT="1000" marB="1000" anchor="ctr">
                    <a:noFill/>
                  </a:tcPr>
                </a:tc>
                <a:tc>
                  <a:txBody>
                    <a:bodyPr wrap="none"/>
                    <a:lstStyle/>
                    <a:p>
                      <a:pPr algn="ctr"/>
                      <a:r>
                        <a:rPr sz="850" b="0">
                          <a:solidFill>
                            <a:srgbClr val="000000"/>
                          </a:solidFill>
                        </a:rPr>
                        <a:t>$73.64</a:t>
                      </a:r>
                    </a:p>
                  </a:txBody>
                  <a:tcPr marL="9000" marR="9000" marT="1000" marB="1000" anchor="ctr">
                    <a:noFill/>
                  </a:tcPr>
                </a:tc>
                <a:tc>
                  <a:txBody>
                    <a:bodyPr wrap="none"/>
                    <a:lstStyle/>
                    <a:p>
                      <a:pPr algn="ctr"/>
                      <a:r>
                        <a:rPr sz="850" b="0">
                          <a:solidFill>
                            <a:srgbClr val="000000"/>
                          </a:solidFill>
                        </a:rPr>
                        <a:t>$75.85</a:t>
                      </a:r>
                    </a:p>
                  </a:txBody>
                  <a:tcPr marL="9000" marR="9000" marT="1000" marB="1000" anchor="ctr">
                    <a:noFill/>
                  </a:tcPr>
                </a:tc>
                <a:tc>
                  <a:txBody>
                    <a:bodyPr wrap="none"/>
                    <a:lstStyle/>
                    <a:p>
                      <a:pPr algn="ctr"/>
                      <a:r>
                        <a:rPr sz="850" b="0">
                          <a:solidFill>
                            <a:srgbClr val="000000"/>
                          </a:solidFill>
                        </a:rPr>
                        <a:t>$78.05</a:t>
                      </a:r>
                    </a:p>
                  </a:txBody>
                  <a:tcPr marL="9000" marR="9000" marT="1000" marB="1000" anchor="ctr">
                    <a:noFill/>
                  </a:tcPr>
                </a:tc>
                <a:tc>
                  <a:txBody>
                    <a:bodyPr wrap="none"/>
                    <a:lstStyle/>
                    <a:p>
                      <a:pPr algn="ctr"/>
                      <a:r>
                        <a:rPr sz="850" b="0">
                          <a:solidFill>
                            <a:srgbClr val="000000"/>
                          </a:solidFill>
                        </a:rPr>
                        <a:t>$80.26</a:t>
                      </a:r>
                    </a:p>
                  </a:txBody>
                  <a:tcPr marL="9000" marR="9000" marT="1000" marB="1000" anchor="ctr">
                    <a:noFill/>
                  </a:tcPr>
                </a:tc>
              </a:tr>
            </a:tbl>
          </a:graphicData>
        </a:graphic>
      </p:graphicFrame>
      <p:graphicFrame>
        <p:nvGraphicFramePr>
          <p:cNvPr id="17" name="Table 16"/>
          <p:cNvGraphicFramePr>
            <a:graphicFrameLocks noGrp="1"/>
          </p:cNvGraphicFramePr>
          <p:nvPr/>
        </p:nvGraphicFramePr>
        <p:xfrm>
          <a:off x="1200000" y="1580000"/>
          <a:ext cx="4600000" cy="2499991"/>
        </p:xfrm>
        <a:graphic>
          <a:graphicData uri="http://schemas.openxmlformats.org/drawingml/2006/table">
            <a:tbl>
              <a:tblPr>
                <a:tableStyleId>{5C22544A-7EE6-4342-B048-85BDC9FD1C3A}</a:tableStyleId>
              </a:tblPr>
              <a:tblGrid>
                <a:gridCol w="2852000"/>
                <a:gridCol w="1748000"/>
              </a:tblGrid>
              <a:tr h="192307">
                <a:tc>
                  <a:txBody>
                    <a:bodyPr wrap="none"/>
                    <a:lstStyle/>
                    <a:p>
                      <a:pPr algn="l"/>
                      <a:r>
                        <a:rPr sz="1100" b="0">
                          <a:solidFill>
                            <a:srgbClr val="000000"/>
                          </a:solidFill>
                          <a:latin typeface="Calibri"/>
                        </a:rPr>
                        <a:t>Forward (2026E) EBITDA</a:t>
                      </a:r>
                    </a:p>
                  </a:txBody>
                  <a:tcPr marL="45000" marR="45000" marT="1000" marB="1000" anchor="ctr">
                    <a:noFill/>
                  </a:tcPr>
                </a:tc>
                <a:tc>
                  <a:txBody>
                    <a:bodyPr wrap="none"/>
                    <a:lstStyle/>
                    <a:p>
                      <a:pPr algn="r"/>
                      <a:r>
                        <a:rPr sz="1100" b="0">
                          <a:solidFill>
                            <a:srgbClr val="000000"/>
                          </a:solidFill>
                          <a:latin typeface="Calibri"/>
                        </a:rPr>
                        <a:t>$6,943.0</a:t>
                      </a:r>
                    </a:p>
                  </a:txBody>
                  <a:tcPr marL="45000" marR="45000" marT="1000" marB="1000" anchor="ctr">
                    <a:noFill/>
                  </a:tcPr>
                </a:tc>
              </a:tr>
              <a:tr h="192307">
                <a:tc>
                  <a:txBody>
                    <a:bodyPr wrap="none"/>
                    <a:lstStyle/>
                    <a:p>
                      <a:pPr algn="l"/>
                      <a:r>
                        <a:rPr sz="1100" b="0">
                          <a:solidFill>
                            <a:srgbClr val="000000"/>
                          </a:solidFill>
                          <a:latin typeface="Calibri"/>
                        </a:rPr>
                        <a:t>Terminal Multiple</a:t>
                      </a:r>
                    </a:p>
                  </a:txBody>
                  <a:tcPr marL="45000" marR="45000" marT="1000" marB="1000" anchor="ctr">
                    <a:noFill/>
                  </a:tcPr>
                </a:tc>
                <a:tc>
                  <a:txBody>
                    <a:bodyPr wrap="none"/>
                    <a:lstStyle/>
                    <a:p>
                      <a:pPr algn="r"/>
                      <a:r>
                        <a:rPr sz="1100" b="0">
                          <a:solidFill>
                            <a:srgbClr val="000000"/>
                          </a:solidFill>
                          <a:latin typeface="Calibri"/>
                        </a:rPr>
                        <a:t>12.0x</a:t>
                      </a:r>
                    </a:p>
                  </a:txBody>
                  <a:tcPr marL="45000" marR="45000" marT="1000" marB="1000" anchor="ctr">
                    <a:noFill/>
                  </a:tcPr>
                </a:tc>
              </a:tr>
              <a:tr h="192307">
                <a:tc>
                  <a:txBody>
                    <a:bodyPr wrap="none"/>
                    <a:lstStyle/>
                    <a:p>
                      <a:pPr algn="l"/>
                      <a:r>
                        <a:rPr sz="1100" b="0">
                          <a:solidFill>
                            <a:srgbClr val="000000"/>
                          </a:solidFill>
                          <a:latin typeface="Calibri"/>
                        </a:rPr>
                        <a:t>Terminal Value</a:t>
                      </a:r>
                    </a:p>
                  </a:txBody>
                  <a:tcPr marL="45000" marR="45000" marT="1000" marB="1000" anchor="ctr">
                    <a:noFill/>
                  </a:tcPr>
                </a:tc>
                <a:tc>
                  <a:txBody>
                    <a:bodyPr wrap="none"/>
                    <a:lstStyle/>
                    <a:p>
                      <a:pPr algn="r"/>
                      <a:r>
                        <a:rPr sz="1100" b="0">
                          <a:solidFill>
                            <a:srgbClr val="000000"/>
                          </a:solidFill>
                          <a:latin typeface="Calibri"/>
                        </a:rPr>
                        <a:t>$83,315.7</a:t>
                      </a:r>
                    </a:p>
                  </a:txBody>
                  <a:tcPr marL="45000" marR="45000" marT="1000" marB="1000" anchor="ctr">
                    <a:noFill/>
                  </a:tcPr>
                </a:tc>
              </a:tr>
              <a:tr h="192307">
                <a:tc>
                  <a:txBody>
                    <a:bodyPr wrap="none"/>
                    <a:lstStyle/>
                    <a:p>
                      <a:pPr algn="l"/>
                      <a:r>
                        <a:rPr sz="1100" b="0">
                          <a:solidFill>
                            <a:srgbClr val="000000"/>
                          </a:solidFill>
                          <a:latin typeface="Calibri"/>
                        </a:rPr>
                        <a:t>Present Value of Terminal Value</a:t>
                      </a:r>
                    </a:p>
                  </a:txBody>
                  <a:tcPr marL="45000" marR="45000" marT="1000" marB="1000" anchor="ctr">
                    <a:noFill/>
                  </a:tcPr>
                </a:tc>
                <a:tc>
                  <a:txBody>
                    <a:bodyPr wrap="none"/>
                    <a:lstStyle/>
                    <a:p>
                      <a:pPr algn="r"/>
                      <a:r>
                        <a:rPr sz="1100" b="0">
                          <a:solidFill>
                            <a:srgbClr val="000000"/>
                          </a:solidFill>
                          <a:latin typeface="Calibri"/>
                        </a:rPr>
                        <a:t>$55,408.7</a:t>
                      </a:r>
                    </a:p>
                  </a:txBody>
                  <a:tcPr marL="45000" marR="45000" marT="1000" marB="1000" anchor="ctr">
                    <a:noFill/>
                  </a:tcPr>
                </a:tc>
              </a:tr>
              <a:tr h="192307">
                <a:tc>
                  <a:txBody>
                    <a:bodyPr wrap="none"/>
                    <a:lstStyle/>
                    <a:p>
                      <a:pPr algn="l"/>
                      <a:r>
                        <a:rPr sz="1100" b="0">
                          <a:solidFill>
                            <a:srgbClr val="000000"/>
                          </a:solidFill>
                          <a:latin typeface="Calibri"/>
                        </a:rPr>
                        <a:t/>
                      </a:r>
                    </a:p>
                  </a:txBody>
                  <a:tcPr marL="45000" marR="45000" marT="1000" marB="1000" anchor="ctr">
                    <a:noFill/>
                  </a:tcPr>
                </a:tc>
                <a:tc>
                  <a:txBody>
                    <a:bodyPr wrap="none"/>
                    <a:lstStyle/>
                    <a:p>
                      <a:pPr algn="r"/>
                      <a:r>
                        <a:rPr sz="1100" b="0">
                          <a:solidFill>
                            <a:srgbClr val="000000"/>
                          </a:solidFill>
                          <a:latin typeface="Calibri"/>
                        </a:rPr>
                        <a:t/>
                      </a:r>
                    </a:p>
                  </a:txBody>
                  <a:tcPr marL="45000" marR="45000" marT="1000" marB="1000" anchor="ctr">
                    <a:noFill/>
                  </a:tcPr>
                </a:tc>
              </a:tr>
              <a:tr h="192307">
                <a:tc>
                  <a:txBody>
                    <a:bodyPr wrap="none"/>
                    <a:lstStyle/>
                    <a:p>
                      <a:pPr algn="l"/>
                      <a:r>
                        <a:rPr sz="1100" b="0">
                          <a:solidFill>
                            <a:srgbClr val="000000"/>
                          </a:solidFill>
                          <a:latin typeface="Calibri"/>
                        </a:rPr>
                        <a:t>PV of Unlevered FCF</a:t>
                      </a:r>
                    </a:p>
                  </a:txBody>
                  <a:tcPr marL="45000" marR="45000" marT="1000" marB="1000" anchor="ctr">
                    <a:noFill/>
                  </a:tcPr>
                </a:tc>
                <a:tc>
                  <a:txBody>
                    <a:bodyPr wrap="none"/>
                    <a:lstStyle/>
                    <a:p>
                      <a:pPr algn="r"/>
                      <a:r>
                        <a:rPr sz="1100" b="0">
                          <a:solidFill>
                            <a:srgbClr val="000000"/>
                          </a:solidFill>
                          <a:latin typeface="Calibri"/>
                        </a:rPr>
                        <a:t>$14,150.0</a:t>
                      </a:r>
                    </a:p>
                  </a:txBody>
                  <a:tcPr marL="45000" marR="45000" marT="1000" marB="1000" anchor="ctr">
                    <a:noFill/>
                  </a:tcPr>
                </a:tc>
              </a:tr>
              <a:tr h="192307">
                <a:tc>
                  <a:txBody>
                    <a:bodyPr wrap="none"/>
                    <a:lstStyle/>
                    <a:p>
                      <a:pPr algn="l"/>
                      <a:r>
                        <a:rPr sz="1100" b="0">
                          <a:solidFill>
                            <a:srgbClr val="000000"/>
                          </a:solidFill>
                          <a:latin typeface="Calibri"/>
                        </a:rPr>
                        <a:t>Plus: PV of Terminal Value</a:t>
                      </a:r>
                    </a:p>
                  </a:txBody>
                  <a:tcPr marL="45000" marR="45000" marT="1000" marB="1000" anchor="ctr">
                    <a:noFill/>
                  </a:tcPr>
                </a:tc>
                <a:tc>
                  <a:txBody>
                    <a:bodyPr wrap="none"/>
                    <a:lstStyle/>
                    <a:p>
                      <a:pPr algn="r"/>
                      <a:r>
                        <a:rPr sz="1100" b="0">
                          <a:solidFill>
                            <a:srgbClr val="000000"/>
                          </a:solidFill>
                          <a:latin typeface="Calibri"/>
                        </a:rPr>
                        <a:t>$55,408.7</a:t>
                      </a:r>
                    </a:p>
                  </a:txBody>
                  <a:tcPr marL="45000" marR="45000" marT="1000" marB="1000" anchor="ctr">
                    <a:noFill/>
                  </a:tcPr>
                </a:tc>
              </a:tr>
              <a:tr h="192307">
                <a:tc>
                  <a:txBody>
                    <a:bodyPr wrap="none"/>
                    <a:lstStyle/>
                    <a:p>
                      <a:pPr algn="l"/>
                      <a:r>
                        <a:rPr sz="1100" b="1">
                          <a:solidFill>
                            <a:srgbClr val="000000"/>
                          </a:solidFill>
                          <a:latin typeface="Calibri"/>
                        </a:rPr>
                        <a:t>Implied TEV / Present Value</a:t>
                      </a:r>
                    </a:p>
                  </a:txBody>
                  <a:tcPr marL="45000" marR="45000" marT="1000" marB="1000" anchor="ctr">
                    <a:solidFill>
                      <a:srgbClr val="D9D9D9"/>
                    </a:solidFill>
                  </a:tcPr>
                </a:tc>
                <a:tc>
                  <a:txBody>
                    <a:bodyPr wrap="none"/>
                    <a:lstStyle/>
                    <a:p>
                      <a:pPr algn="r"/>
                      <a:r>
                        <a:rPr sz="1100" b="1">
                          <a:solidFill>
                            <a:srgbClr val="000000"/>
                          </a:solidFill>
                          <a:latin typeface="Calibri"/>
                        </a:rPr>
                        <a:t>$69,558.7</a:t>
                      </a:r>
                    </a:p>
                  </a:txBody>
                  <a:tcPr marL="45000" marR="45000" marT="1000" marB="1000" anchor="ctr">
                    <a:solidFill>
                      <a:srgbClr val="D9D9D9"/>
                    </a:solidFill>
                  </a:tcPr>
                </a:tc>
              </a:tr>
              <a:tr h="192307">
                <a:tc>
                  <a:txBody>
                    <a:bodyPr wrap="none"/>
                    <a:lstStyle/>
                    <a:p>
                      <a:pPr algn="l"/>
                      <a:r>
                        <a:rPr sz="1100" b="0">
                          <a:solidFill>
                            <a:srgbClr val="000000"/>
                          </a:solidFill>
                          <a:latin typeface="Calibri"/>
                        </a:rPr>
                        <a:t>Plus: Cash</a:t>
                      </a:r>
                    </a:p>
                  </a:txBody>
                  <a:tcPr marL="45000" marR="45000" marT="1000" marB="1000" anchor="ctr">
                    <a:noFill/>
                  </a:tcPr>
                </a:tc>
                <a:tc>
                  <a:txBody>
                    <a:bodyPr wrap="none"/>
                    <a:lstStyle/>
                    <a:p>
                      <a:pPr algn="r"/>
                      <a:r>
                        <a:rPr sz="1100" b="0">
                          <a:solidFill>
                            <a:srgbClr val="000000"/>
                          </a:solidFill>
                          <a:latin typeface="Calibri"/>
                        </a:rPr>
                        <a:t>$9,200.0</a:t>
                      </a:r>
                    </a:p>
                  </a:txBody>
                  <a:tcPr marL="45000" marR="45000" marT="1000" marB="1000" anchor="ctr">
                    <a:noFill/>
                  </a:tcPr>
                </a:tc>
              </a:tr>
              <a:tr h="192307">
                <a:tc>
                  <a:txBody>
                    <a:bodyPr wrap="none"/>
                    <a:lstStyle/>
                    <a:p>
                      <a:pPr algn="l"/>
                      <a:r>
                        <a:rPr sz="1100" b="0">
                          <a:solidFill>
                            <a:srgbClr val="000000"/>
                          </a:solidFill>
                          <a:latin typeface="Calibri"/>
                        </a:rPr>
                        <a:t>Less: Debt</a:t>
                      </a:r>
                    </a:p>
                  </a:txBody>
                  <a:tcPr marL="45000" marR="45000" marT="1000" marB="1000" anchor="ctr">
                    <a:noFill/>
                  </a:tcPr>
                </a:tc>
                <a:tc>
                  <a:txBody>
                    <a:bodyPr wrap="none"/>
                    <a:lstStyle/>
                    <a:p>
                      <a:pPr algn="r"/>
                      <a:r>
                        <a:rPr sz="1100" b="0">
                          <a:solidFill>
                            <a:srgbClr val="000000"/>
                          </a:solidFill>
                          <a:latin typeface="Calibri"/>
                        </a:rPr>
                        <a:t>($50.0)</a:t>
                      </a:r>
                    </a:p>
                  </a:txBody>
                  <a:tcPr marL="45000" marR="45000" marT="1000" marB="1000" anchor="ctr">
                    <a:noFill/>
                  </a:tcPr>
                </a:tc>
              </a:tr>
              <a:tr h="192307">
                <a:tc>
                  <a:txBody>
                    <a:bodyPr wrap="none"/>
                    <a:lstStyle/>
                    <a:p>
                      <a:pPr algn="l"/>
                      <a:r>
                        <a:rPr sz="1100" b="1">
                          <a:solidFill>
                            <a:srgbClr val="000000"/>
                          </a:solidFill>
                          <a:latin typeface="Calibri"/>
                        </a:rPr>
                        <a:t>Implied Equity Value</a:t>
                      </a:r>
                    </a:p>
                  </a:txBody>
                  <a:tcPr marL="45000" marR="45000" marT="1000" marB="1000" anchor="ctr">
                    <a:solidFill>
                      <a:srgbClr val="D9D9D9"/>
                    </a:solidFill>
                  </a:tcPr>
                </a:tc>
                <a:tc>
                  <a:txBody>
                    <a:bodyPr wrap="none"/>
                    <a:lstStyle/>
                    <a:p>
                      <a:pPr algn="r"/>
                      <a:r>
                        <a:rPr sz="1100" b="1">
                          <a:solidFill>
                            <a:srgbClr val="000000"/>
                          </a:solidFill>
                          <a:latin typeface="Calibri"/>
                        </a:rPr>
                        <a:t>$78,708.7</a:t>
                      </a:r>
                    </a:p>
                  </a:txBody>
                  <a:tcPr marL="45000" marR="45000" marT="1000" marB="1000" anchor="ctr">
                    <a:solidFill>
                      <a:srgbClr val="D9D9D9"/>
                    </a:solidFill>
                  </a:tcPr>
                </a:tc>
              </a:tr>
              <a:tr h="192307">
                <a:tc>
                  <a:txBody>
                    <a:bodyPr wrap="none"/>
                    <a:lstStyle/>
                    <a:p>
                      <a:pPr algn="l"/>
                      <a:r>
                        <a:rPr sz="1100" b="0">
                          <a:solidFill>
                            <a:srgbClr val="000000"/>
                          </a:solidFill>
                          <a:latin typeface="Calibri"/>
                        </a:rPr>
                        <a:t>Shares Outstanding</a:t>
                      </a:r>
                    </a:p>
                  </a:txBody>
                  <a:tcPr marL="45000" marR="45000" marT="1000" marB="1000" anchor="ctr">
                    <a:noFill/>
                  </a:tcPr>
                </a:tc>
                <a:tc>
                  <a:txBody>
                    <a:bodyPr wrap="none"/>
                    <a:lstStyle/>
                    <a:p>
                      <a:pPr algn="r"/>
                      <a:r>
                        <a:rPr sz="1100" b="0">
                          <a:solidFill>
                            <a:srgbClr val="000000"/>
                          </a:solidFill>
                          <a:latin typeface="Calibri"/>
                        </a:rPr>
                        <a:t>1,000</a:t>
                      </a:r>
                    </a:p>
                  </a:txBody>
                  <a:tcPr marL="45000" marR="45000" marT="1000" marB="1000" anchor="ctr">
                    <a:noFill/>
                  </a:tcPr>
                </a:tc>
              </a:tr>
              <a:tr h="192307">
                <a:tc>
                  <a:txBody>
                    <a:bodyPr wrap="none"/>
                    <a:lstStyle/>
                    <a:p>
                      <a:pPr algn="l"/>
                      <a:r>
                        <a:rPr sz="1100" b="1">
                          <a:solidFill>
                            <a:srgbClr val="000000"/>
                          </a:solidFill>
                          <a:latin typeface="Calibri"/>
                        </a:rPr>
                        <a:t>Implied Share Price Valuation</a:t>
                      </a:r>
                    </a:p>
                  </a:txBody>
                  <a:tcPr marL="45000" marR="45000" marT="1000" marB="1000" anchor="ctr">
                    <a:solidFill>
                      <a:srgbClr val="D9D9D9"/>
                    </a:solidFill>
                  </a:tcPr>
                </a:tc>
                <a:tc>
                  <a:txBody>
                    <a:bodyPr wrap="none"/>
                    <a:lstStyle/>
                    <a:p>
                      <a:pPr algn="r"/>
                      <a:r>
                        <a:rPr sz="1100" b="1">
                          <a:solidFill>
                            <a:srgbClr val="000000"/>
                          </a:solidFill>
                          <a:latin typeface="Calibri"/>
                        </a:rPr>
                        <a:t>$78.71</a:t>
                      </a:r>
                    </a:p>
                  </a:txBody>
                  <a:tcPr marL="45000" marR="45000" marT="1000" marB="1000" anchor="ctr">
                    <a:solidFill>
                      <a:srgbClr val="D9D9D9"/>
                    </a:solidFill>
                  </a:tcPr>
                </a:tc>
              </a:tr>
            </a:tbl>
          </a:graphicData>
        </a:graphic>
      </p:graphicFrame>
    </p:spTree>
    <p:extLst>
      <p:ext uri="{BB962C8B-B14F-4D97-AF65-F5344CB8AC3E}">
        <p14:creationId xmlns:p14="http://schemas.microsoft.com/office/powerpoint/2010/main" val="36440073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SE THIS">
  <a:themeElements>
    <a:clrScheme name="Custom 1">
      <a:dk1>
        <a:sysClr val="windowText" lastClr="000000"/>
      </a:dk1>
      <a:lt1>
        <a:sysClr val="window" lastClr="FFFFFF"/>
      </a:lt1>
      <a:dk2>
        <a:srgbClr val="1F497D"/>
      </a:dk2>
      <a:lt2>
        <a:srgbClr val="EEECE1"/>
      </a:lt2>
      <a:accent1>
        <a:srgbClr val="546C8D"/>
      </a:accent1>
      <a:accent2>
        <a:srgbClr val="C0504D"/>
      </a:accent2>
      <a:accent3>
        <a:srgbClr val="386A1D"/>
      </a:accent3>
      <a:accent4>
        <a:srgbClr val="8064A2"/>
      </a:accent4>
      <a:accent5>
        <a:srgbClr val="4BACC6"/>
      </a:accent5>
      <a:accent6>
        <a:srgbClr val="F79646"/>
      </a:accent6>
      <a:hlink>
        <a:srgbClr val="0000FF"/>
      </a:hlink>
      <a:folHlink>
        <a:srgbClr val="800080"/>
      </a:folHlink>
    </a:clrScheme>
    <a:fontScheme name="FPP Presentation">
      <a:majorFont>
        <a:latin typeface="Cambria"/>
        <a:ea typeface=""/>
        <a:cs typeface=""/>
      </a:majorFont>
      <a:minorFont>
        <a:latin typeface="Calibri"/>
        <a:ea typeface=""/>
        <a:cs typeface=""/>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bwMode="auto">
        <a:solidFill>
          <a:srgbClr val="FFFF00"/>
        </a:solidFill>
        <a:ln w="19050" cap="rnd" cmpd="sng">
          <a:solidFill>
            <a:schemeClr val="tx1"/>
          </a:solidFill>
          <a:prstDash val="solid"/>
          <a:round/>
          <a:headEnd type="none" w="med" len="med"/>
          <a:tailEnd type="none" w="med" len="med"/>
        </a:ln>
        <a:effectLst/>
      </a:spPr>
      <a:bodyPr rtlCol="0" anchor="ctr"/>
      <a:lstStyle>
        <a:defPPr algn="ctr">
          <a:defRPr dirty="0"/>
        </a:defPPr>
      </a:lst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80123</TotalTime>
  <Words>239</Words>
  <Application>Microsoft Macintosh PowerPoint</Application>
  <PresentationFormat>Letter Paper (8.5x11 in)</PresentationFormat>
  <Paragraphs>34</Paragraphs>
  <Slides>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Arial</vt:lpstr>
      <vt:lpstr>Calibri</vt:lpstr>
      <vt:lpstr>Cambria</vt:lpstr>
      <vt:lpstr>Courier New</vt:lpstr>
      <vt:lpstr>Wingdings</vt:lpstr>
      <vt:lpstr>Wingdings 3</vt:lpstr>
      <vt:lpstr>USE THIS</vt:lpstr>
      <vt:lpstr>Nintendo | Company profile</vt:lpstr>
      <vt:lpstr>Nintendo | Discounted Cash Flow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JP &amp; WW</dc:creator>
  <cp:lastModifiedBy>Annabel Gurney</cp:lastModifiedBy>
  <cp:revision>1460</cp:revision>
  <cp:lastPrinted>2017-04-11T02:39:08Z</cp:lastPrinted>
  <dcterms:created xsi:type="dcterms:W3CDTF">2015-08-12T15:22:50Z</dcterms:created>
  <dcterms:modified xsi:type="dcterms:W3CDTF">2023-01-12T00:46:41Z</dcterms:modified>
</cp:coreProperties>
</file>